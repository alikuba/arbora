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F2D28"/>
        </a:solidFill>
        <a:effectLst/>
        <a:uFillTx/>
        <a:latin typeface="+mj-lt"/>
        <a:ea typeface="+mj-ea"/>
        <a:cs typeface="+mj-cs"/>
        <a:sym typeface="Arial"/>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F2D28"/>
        </a:solidFill>
        <a:effectLst/>
        <a:uFillTx/>
        <a:latin typeface="+mj-lt"/>
        <a:ea typeface="+mj-ea"/>
        <a:cs typeface="+mj-cs"/>
        <a:sym typeface="Arial"/>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F2D28"/>
        </a:solidFill>
        <a:effectLst/>
        <a:uFillTx/>
        <a:latin typeface="+mj-lt"/>
        <a:ea typeface="+mj-ea"/>
        <a:cs typeface="+mj-cs"/>
        <a:sym typeface="Arial"/>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F2D28"/>
        </a:solidFill>
        <a:effectLst/>
        <a:uFillTx/>
        <a:latin typeface="+mj-lt"/>
        <a:ea typeface="+mj-ea"/>
        <a:cs typeface="+mj-cs"/>
        <a:sym typeface="Arial"/>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F2D28"/>
        </a:solidFill>
        <a:effectLst/>
        <a:uFillTx/>
        <a:latin typeface="+mj-lt"/>
        <a:ea typeface="+mj-ea"/>
        <a:cs typeface="+mj-cs"/>
        <a:sym typeface="Arial"/>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F2D28"/>
        </a:solidFill>
        <a:effectLst/>
        <a:uFillTx/>
        <a:latin typeface="+mj-lt"/>
        <a:ea typeface="+mj-ea"/>
        <a:cs typeface="+mj-cs"/>
        <a:sym typeface="Arial"/>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F2D28"/>
        </a:solidFill>
        <a:effectLst/>
        <a:uFillTx/>
        <a:latin typeface="+mj-lt"/>
        <a:ea typeface="+mj-ea"/>
        <a:cs typeface="+mj-cs"/>
        <a:sym typeface="Arial"/>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F2D28"/>
        </a:solidFill>
        <a:effectLst/>
        <a:uFillTx/>
        <a:latin typeface="+mj-lt"/>
        <a:ea typeface="+mj-ea"/>
        <a:cs typeface="+mj-cs"/>
        <a:sym typeface="Arial"/>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F2D28"/>
        </a:solidFill>
        <a:effectLst/>
        <a:uFillTx/>
        <a:latin typeface="+mj-lt"/>
        <a:ea typeface="+mj-ea"/>
        <a:cs typeface="+mj-cs"/>
        <a:sym typeface="Arial"/>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ajor">
          <a:srgbClr val="0F2D28"/>
        </a:fontRef>
        <a:srgbClr val="0F2D28"/>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rgbClr val="F6DFCD"/>
          </a:solidFill>
        </a:fill>
      </a:tcStyle>
    </a:wholeTbl>
    <a:band2H>
      <a:tcTxStyle b="def" i="def"/>
      <a:tcStyle>
        <a:tcBdr/>
        <a:fill>
          <a:solidFill>
            <a:srgbClr val="FBF0E7"/>
          </a:solidFill>
        </a:fill>
      </a:tcStyle>
    </a:band2H>
    <a:firstCol>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chemeClr val="accent1"/>
          </a:solidFill>
        </a:fill>
      </a:tcStyle>
    </a:firstCol>
    <a:lastRow>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381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chemeClr val="accent1"/>
          </a:solidFill>
        </a:fill>
      </a:tcStyle>
    </a:lastRow>
    <a:firstRow>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381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chemeClr val="accent1"/>
          </a:solidFill>
        </a:fill>
      </a:tcStyle>
    </a:firstRow>
  </a:tblStyle>
  <a:tblStyle styleId="{C7B018BB-80A7-4F77-B60F-C8B233D01FF8}" styleName="">
    <a:tblBg/>
    <a:wholeTbl>
      <a:tcTxStyle b="off" i="off">
        <a:fontRef idx="major">
          <a:srgbClr val="0F2D28"/>
        </a:fontRef>
        <a:srgbClr val="0F2D28"/>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rgbClr val="CBDED9"/>
          </a:solidFill>
        </a:fill>
      </a:tcStyle>
    </a:wholeTbl>
    <a:band2H>
      <a:tcTxStyle b="def" i="def"/>
      <a:tcStyle>
        <a:tcBdr/>
        <a:fill>
          <a:solidFill>
            <a:srgbClr val="E7EFED"/>
          </a:solidFill>
        </a:fill>
      </a:tcStyle>
    </a:band2H>
    <a:firstCol>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chemeClr val="accent3"/>
          </a:solidFill>
        </a:fill>
      </a:tcStyle>
    </a:firstCol>
    <a:lastRow>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381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chemeClr val="accent3"/>
          </a:solidFill>
        </a:fill>
      </a:tcStyle>
    </a:lastRow>
    <a:firstRow>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381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chemeClr val="accent3"/>
          </a:solidFill>
        </a:fill>
      </a:tcStyle>
    </a:firstRow>
  </a:tblStyle>
  <a:tblStyle styleId="{EEE7283C-3CF3-47DC-8721-378D4A62B228}" styleName="">
    <a:tblBg/>
    <a:wholeTbl>
      <a:tcTxStyle b="off" i="off">
        <a:fontRef idx="major">
          <a:srgbClr val="0F2D28"/>
        </a:fontRef>
        <a:srgbClr val="0F2D28"/>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rgbClr val="E1E9E7"/>
          </a:solidFill>
        </a:fill>
      </a:tcStyle>
    </a:wholeTbl>
    <a:band2H>
      <a:tcTxStyle b="def" i="def"/>
      <a:tcStyle>
        <a:tcBdr/>
        <a:fill>
          <a:solidFill>
            <a:srgbClr val="F1F4F3"/>
          </a:solidFill>
        </a:fill>
      </a:tcStyle>
    </a:band2H>
    <a:firstCol>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chemeClr val="accent6"/>
          </a:solidFill>
        </a:fill>
      </a:tcStyle>
    </a:firstCol>
    <a:lastRow>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381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chemeClr val="accent6"/>
          </a:solidFill>
        </a:fill>
      </a:tcStyle>
    </a:lastRow>
    <a:firstRow>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381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chemeClr val="accent6"/>
          </a:solidFill>
        </a:fill>
      </a:tcStyle>
    </a:firstRow>
  </a:tblStyle>
  <a:tblStyle styleId="{CF821DB8-F4EB-4A41-A1BA-3FCAFE7338EE}" styleName="">
    <a:tblBg/>
    <a:wholeTbl>
      <a:tcTxStyle b="off" i="off">
        <a:fontRef idx="major">
          <a:srgbClr val="0F2D28"/>
        </a:fontRef>
        <a:srgbClr val="0F2D28"/>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7E7"/>
          </a:solidFill>
        </a:fill>
      </a:tcStyle>
    </a:wholeTbl>
    <a:band2H>
      <a:tcTxStyle b="def" i="def"/>
      <a:tcStyle>
        <a:tcBdr/>
        <a:fill>
          <a:solidFill>
            <a:srgbClr val="F5F2E9"/>
          </a:solidFill>
        </a:fill>
      </a:tcStyle>
    </a:band2H>
    <a:firstCol>
      <a:tcTxStyle b="on" i="off">
        <a:fontRef idx="major">
          <a:srgbClr val="F5F2E9"/>
        </a:fontRef>
        <a:srgbClr val="F5F2E9"/>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F2D28"/>
        </a:fontRef>
        <a:srgbClr val="0F2D28"/>
      </a:tcTxStyle>
      <a:tcStyle>
        <a:tcBdr>
          <a:left>
            <a:ln w="12700" cap="flat">
              <a:noFill/>
              <a:miter lim="400000"/>
            </a:ln>
          </a:left>
          <a:right>
            <a:ln w="12700" cap="flat">
              <a:noFill/>
              <a:miter lim="400000"/>
            </a:ln>
          </a:right>
          <a:top>
            <a:ln w="50800" cap="flat">
              <a:solidFill>
                <a:srgbClr val="0F2D28"/>
              </a:solidFill>
              <a:prstDash val="solid"/>
              <a:round/>
            </a:ln>
          </a:top>
          <a:bottom>
            <a:ln w="25400" cap="flat">
              <a:solidFill>
                <a:srgbClr val="0F2D28"/>
              </a:solidFill>
              <a:prstDash val="solid"/>
              <a:round/>
            </a:ln>
          </a:bottom>
          <a:insideH>
            <a:ln w="12700" cap="flat">
              <a:noFill/>
              <a:miter lim="400000"/>
            </a:ln>
          </a:insideH>
          <a:insideV>
            <a:ln w="12700" cap="flat">
              <a:noFill/>
              <a:miter lim="400000"/>
            </a:ln>
          </a:insideV>
        </a:tcBdr>
        <a:fill>
          <a:solidFill>
            <a:srgbClr val="F5F2E9"/>
          </a:solidFill>
        </a:fill>
      </a:tcStyle>
    </a:lastRow>
    <a:firstRow>
      <a:tcTxStyle b="on" i="off">
        <a:fontRef idx="major">
          <a:srgbClr val="F5F2E9"/>
        </a:fontRef>
        <a:srgbClr val="F5F2E9"/>
      </a:tcTxStyle>
      <a:tcStyle>
        <a:tcBdr>
          <a:left>
            <a:ln w="12700" cap="flat">
              <a:noFill/>
              <a:miter lim="400000"/>
            </a:ln>
          </a:left>
          <a:right>
            <a:ln w="12700" cap="flat">
              <a:noFill/>
              <a:miter lim="400000"/>
            </a:ln>
          </a:right>
          <a:top>
            <a:ln w="25400" cap="flat">
              <a:solidFill>
                <a:srgbClr val="0F2D28"/>
              </a:solidFill>
              <a:prstDash val="solid"/>
              <a:round/>
            </a:ln>
          </a:top>
          <a:bottom>
            <a:ln w="25400" cap="flat">
              <a:solidFill>
                <a:srgbClr val="0F2D28"/>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F2D28"/>
        </a:fontRef>
        <a:srgbClr val="0F2D28"/>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rgbClr val="CACCCB"/>
          </a:solidFill>
        </a:fill>
      </a:tcStyle>
    </a:wholeTbl>
    <a:band2H>
      <a:tcTxStyle b="def" i="def"/>
      <a:tcStyle>
        <a:tcBdr/>
        <a:fill>
          <a:solidFill>
            <a:srgbClr val="E6E7E7"/>
          </a:solidFill>
        </a:fill>
      </a:tcStyle>
    </a:band2H>
    <a:firstCol>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rgbClr val="0F2D28"/>
          </a:solidFill>
        </a:fill>
      </a:tcStyle>
    </a:firstCol>
    <a:lastRow>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381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rgbClr val="0F2D28"/>
          </a:solidFill>
        </a:fill>
      </a:tcStyle>
    </a:lastRow>
    <a:firstRow>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381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rgbClr val="0F2D28"/>
          </a:solidFill>
        </a:fill>
      </a:tcStyle>
    </a:firstRow>
  </a:tblStyle>
  <a:tblStyle styleId="{2708684C-4D16-4618-839F-0558EEFCDFE6}" styleName="">
    <a:tblBg/>
    <a:wholeTbl>
      <a:tcTxStyle b="off"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rgbClr val="F5F2E9">
              <a:alpha val="20000"/>
            </a:srgbClr>
          </a:solidFill>
        </a:fill>
      </a:tcStyle>
    </a:wholeTbl>
    <a:band2H>
      <a:tcTxStyle b="def" i="def"/>
      <a:tcStyle>
        <a:tcBdr/>
        <a:fill>
          <a:solidFill>
            <a:srgbClr val="FFFFFF"/>
          </a:solidFill>
        </a:fill>
      </a:tcStyle>
    </a:band2H>
    <a:firstCol>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solidFill>
            <a:srgbClr val="F5F2E9">
              <a:alpha val="20000"/>
            </a:srgbClr>
          </a:solidFill>
        </a:fill>
      </a:tcStyle>
    </a:firstCol>
    <a:lastRow>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50800" cap="flat">
              <a:solidFill>
                <a:srgbClr val="F5F2E9"/>
              </a:solidFill>
              <a:prstDash val="solid"/>
              <a:round/>
            </a:ln>
          </a:top>
          <a:bottom>
            <a:ln w="127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noFill/>
        </a:fill>
      </a:tcStyle>
    </a:lastRow>
    <a:firstRow>
      <a:tcTxStyle b="on" i="off">
        <a:fontRef idx="major">
          <a:srgbClr val="F5F2E9"/>
        </a:fontRef>
        <a:srgbClr val="F5F2E9"/>
      </a:tcTxStyle>
      <a:tcStyle>
        <a:tcBdr>
          <a:left>
            <a:ln w="12700" cap="flat">
              <a:solidFill>
                <a:srgbClr val="F5F2E9"/>
              </a:solidFill>
              <a:prstDash val="solid"/>
              <a:round/>
            </a:ln>
          </a:left>
          <a:right>
            <a:ln w="12700" cap="flat">
              <a:solidFill>
                <a:srgbClr val="F5F2E9"/>
              </a:solidFill>
              <a:prstDash val="solid"/>
              <a:round/>
            </a:ln>
          </a:right>
          <a:top>
            <a:ln w="12700" cap="flat">
              <a:solidFill>
                <a:srgbClr val="F5F2E9"/>
              </a:solidFill>
              <a:prstDash val="solid"/>
              <a:round/>
            </a:ln>
          </a:top>
          <a:bottom>
            <a:ln w="25400" cap="flat">
              <a:solidFill>
                <a:srgbClr val="F5F2E9"/>
              </a:solidFill>
              <a:prstDash val="solid"/>
              <a:round/>
            </a:ln>
          </a:bottom>
          <a:insideH>
            <a:ln w="12700" cap="flat">
              <a:solidFill>
                <a:srgbClr val="F5F2E9"/>
              </a:solidFill>
              <a:prstDash val="solid"/>
              <a:round/>
            </a:ln>
          </a:insideH>
          <a:insideV>
            <a:ln w="12700" cap="flat">
              <a:solidFill>
                <a:srgbClr val="F5F2E9"/>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26" name="Shape 26"/>
          <p:cNvSpPr/>
          <p:nvPr>
            <p:ph type="sldImg"/>
          </p:nvPr>
        </p:nvSpPr>
        <p:spPr>
          <a:xfrm>
            <a:off x="1143000" y="685800"/>
            <a:ext cx="4572000" cy="3429000"/>
          </a:xfrm>
          <a:prstGeom prst="rect">
            <a:avLst/>
          </a:prstGeom>
        </p:spPr>
        <p:txBody>
          <a:bodyPr/>
          <a:lstStyle/>
          <a:p>
            <a:pPr/>
          </a:p>
        </p:txBody>
      </p:sp>
      <p:sp>
        <p:nvSpPr>
          <p:cNvPr id="27" name="Shape 27"/>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solidFill>
          <a:srgbClr val="0F2D28"/>
        </a:solidFill>
        <a:latin typeface="+mj-lt"/>
        <a:ea typeface="+mj-ea"/>
        <a:cs typeface="+mj-cs"/>
        <a:sym typeface="Arial"/>
      </a:defRPr>
    </a:lvl1pPr>
    <a:lvl2pPr indent="228600" latinLnBrk="0">
      <a:defRPr sz="1200">
        <a:solidFill>
          <a:srgbClr val="0F2D28"/>
        </a:solidFill>
        <a:latin typeface="+mj-lt"/>
        <a:ea typeface="+mj-ea"/>
        <a:cs typeface="+mj-cs"/>
        <a:sym typeface="Arial"/>
      </a:defRPr>
    </a:lvl2pPr>
    <a:lvl3pPr indent="457200" latinLnBrk="0">
      <a:defRPr sz="1200">
        <a:solidFill>
          <a:srgbClr val="0F2D28"/>
        </a:solidFill>
        <a:latin typeface="+mj-lt"/>
        <a:ea typeface="+mj-ea"/>
        <a:cs typeface="+mj-cs"/>
        <a:sym typeface="Arial"/>
      </a:defRPr>
    </a:lvl3pPr>
    <a:lvl4pPr indent="685800" latinLnBrk="0">
      <a:defRPr sz="1200">
        <a:solidFill>
          <a:srgbClr val="0F2D28"/>
        </a:solidFill>
        <a:latin typeface="+mj-lt"/>
        <a:ea typeface="+mj-ea"/>
        <a:cs typeface="+mj-cs"/>
        <a:sym typeface="Arial"/>
      </a:defRPr>
    </a:lvl4pPr>
    <a:lvl5pPr indent="914400" latinLnBrk="0">
      <a:defRPr sz="1200">
        <a:solidFill>
          <a:srgbClr val="0F2D28"/>
        </a:solidFill>
        <a:latin typeface="+mj-lt"/>
        <a:ea typeface="+mj-ea"/>
        <a:cs typeface="+mj-cs"/>
        <a:sym typeface="Arial"/>
      </a:defRPr>
    </a:lvl5pPr>
    <a:lvl6pPr indent="1143000" latinLnBrk="0">
      <a:defRPr sz="1200">
        <a:solidFill>
          <a:srgbClr val="0F2D28"/>
        </a:solidFill>
        <a:latin typeface="+mj-lt"/>
        <a:ea typeface="+mj-ea"/>
        <a:cs typeface="+mj-cs"/>
        <a:sym typeface="Arial"/>
      </a:defRPr>
    </a:lvl6pPr>
    <a:lvl7pPr indent="1371600" latinLnBrk="0">
      <a:defRPr sz="1200">
        <a:solidFill>
          <a:srgbClr val="0F2D28"/>
        </a:solidFill>
        <a:latin typeface="+mj-lt"/>
        <a:ea typeface="+mj-ea"/>
        <a:cs typeface="+mj-cs"/>
        <a:sym typeface="Arial"/>
      </a:defRPr>
    </a:lvl7pPr>
    <a:lvl8pPr indent="1600200" latinLnBrk="0">
      <a:defRPr sz="1200">
        <a:solidFill>
          <a:srgbClr val="0F2D28"/>
        </a:solidFill>
        <a:latin typeface="+mj-lt"/>
        <a:ea typeface="+mj-ea"/>
        <a:cs typeface="+mj-cs"/>
        <a:sym typeface="Arial"/>
      </a:defRPr>
    </a:lvl8pPr>
    <a:lvl9pPr indent="1828800" latinLnBrk="0">
      <a:defRPr sz="1200">
        <a:solidFill>
          <a:srgbClr val="0F2D28"/>
        </a:solidFill>
        <a:latin typeface="+mj-lt"/>
        <a:ea typeface="+mj-ea"/>
        <a:cs typeface="+mj-cs"/>
        <a:sym typeface="Arial"/>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 name="Shape 34"/>
          <p:cNvSpPr/>
          <p:nvPr>
            <p:ph type="sldImg"/>
          </p:nvPr>
        </p:nvSpPr>
        <p:spPr>
          <a:prstGeom prst="rect">
            <a:avLst/>
          </a:prstGeom>
        </p:spPr>
        <p:txBody>
          <a:bodyPr/>
          <a:lstStyle/>
          <a:p>
            <a:pPr/>
          </a:p>
        </p:txBody>
      </p:sp>
      <p:sp>
        <p:nvSpPr>
          <p:cNvPr id="35" name="Shape 35"/>
          <p:cNvSpPr/>
          <p:nvPr>
            <p:ph type="body" sz="quarter" idx="1"/>
          </p:nvPr>
        </p:nvSpPr>
        <p:spPr>
          <a:prstGeom prst="rect">
            <a:avLst/>
          </a:prstGeom>
        </p:spPr>
        <p:txBody>
          <a:bodyPr/>
          <a:lstStyle/>
          <a:p>
            <a:pPr/>
            <a:r>
              <a:t>Open with the one-line idea: Arbora is a solar-powered smart tree for cities. It generates clean power, measures the air, removes some CO₂ with algae and plants, and gives shade and charging. Introduce the team and the competition.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0" name="Shape 50"/>
          <p:cNvSpPr/>
          <p:nvPr>
            <p:ph type="sldImg"/>
          </p:nvPr>
        </p:nvSpPr>
        <p:spPr>
          <a:prstGeom prst="rect">
            <a:avLst/>
          </a:prstGeom>
        </p:spPr>
        <p:txBody>
          <a:bodyPr/>
          <a:lstStyle/>
          <a:p>
            <a:pPr/>
          </a:p>
        </p:txBody>
      </p:sp>
      <p:sp>
        <p:nvSpPr>
          <p:cNvPr id="51" name="Shape 51"/>
          <p:cNvSpPr/>
          <p:nvPr>
            <p:ph type="body" sz="quarter" idx="1"/>
          </p:nvPr>
        </p:nvSpPr>
        <p:spPr>
          <a:prstGeom prst="rect">
            <a:avLst/>
          </a:prstGeom>
        </p:spPr>
        <p:txBody>
          <a:bodyPr/>
          <a:lstStyle/>
          <a:p>
            <a:pPr/>
            <a:r>
              <a:t>Three everyday gaps in public space: air nobody measures locally, heat with no shade, and no power outdoors. Arbora addresses all three in one structure.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5" name="Shape 75"/>
          <p:cNvSpPr/>
          <p:nvPr>
            <p:ph type="sldImg"/>
          </p:nvPr>
        </p:nvSpPr>
        <p:spPr>
          <a:prstGeom prst="rect">
            <a:avLst/>
          </a:prstGeom>
        </p:spPr>
        <p:txBody>
          <a:bodyPr/>
          <a:lstStyle/>
          <a:p>
            <a:pPr/>
          </a:p>
        </p:txBody>
      </p:sp>
      <p:sp>
        <p:nvSpPr>
          <p:cNvPr id="76" name="Shape 76"/>
          <p:cNvSpPr/>
          <p:nvPr>
            <p:ph type="body" sz="quarter" idx="1"/>
          </p:nvPr>
        </p:nvSpPr>
        <p:spPr>
          <a:prstGeom prst="rect">
            <a:avLst/>
          </a:prstGeom>
        </p:spPr>
        <p:txBody>
          <a:bodyPr/>
          <a:lstStyle/>
          <a:p>
            <a:pPr/>
            <a:r>
              <a:t>The core idea: combine four things cities usually buy separately. Power, air monitoring, CO₂ removal, and public comfort. The custom design means the canopy can take many shapes and carry local or sponsor branding.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0" name="Shape 100"/>
          <p:cNvSpPr/>
          <p:nvPr>
            <p:ph type="sldImg"/>
          </p:nvPr>
        </p:nvSpPr>
        <p:spPr>
          <a:prstGeom prst="rect">
            <a:avLst/>
          </a:prstGeom>
        </p:spPr>
        <p:txBody>
          <a:bodyPr/>
          <a:lstStyle/>
          <a:p>
            <a:pPr/>
          </a:p>
        </p:txBody>
      </p:sp>
      <p:sp>
        <p:nvSpPr>
          <p:cNvPr id="101" name="Shape 101"/>
          <p:cNvSpPr/>
          <p:nvPr>
            <p:ph type="body" sz="quarter" idx="1"/>
          </p:nvPr>
        </p:nvSpPr>
        <p:spPr>
          <a:prstGeom prst="rect">
            <a:avLst/>
          </a:prstGeom>
        </p:spPr>
        <p:txBody>
          <a:bodyPr/>
          <a:lstStyle/>
          <a:p>
            <a:pPr/>
            <a:r>
              <a:t>This is the MVP we can build and show now. The advanced chemistry, air conditioning and origami transformations stay on the roadmap. A 400 to 600 W array is enough for the electronics alone if the budget is tight.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1" name="Shape 121"/>
          <p:cNvSpPr/>
          <p:nvPr>
            <p:ph type="sldImg"/>
          </p:nvPr>
        </p:nvSpPr>
        <p:spPr>
          <a:prstGeom prst="rect">
            <a:avLst/>
          </a:prstGeom>
        </p:spPr>
        <p:txBody>
          <a:bodyPr/>
          <a:lstStyle/>
          <a:p>
            <a:pPr/>
          </a:p>
        </p:txBody>
      </p:sp>
      <p:sp>
        <p:nvSpPr>
          <p:cNvPr id="122" name="Shape 122"/>
          <p:cNvSpPr/>
          <p:nvPr>
            <p:ph type="body" sz="quarter" idx="1"/>
          </p:nvPr>
        </p:nvSpPr>
        <p:spPr>
          <a:prstGeom prst="rect">
            <a:avLst/>
          </a:prstGeom>
        </p:spPr>
        <p:txBody>
          <a:bodyPr/>
          <a:lstStyle/>
          <a:p>
            <a:pPr/>
            <a:r>
              <a:t>Explain the mechanism simply. CO₂ dissolves in water, algae fix it through photosynthesis and release oxygen. Be upfront that harvesting is what makes it a real removal. Air is only about 0.04 percent CO₂, so growth is slow; feeding in captured CO₂ later would speed it up.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2" name="Shape 142"/>
          <p:cNvSpPr/>
          <p:nvPr>
            <p:ph type="sldImg"/>
          </p:nvPr>
        </p:nvSpPr>
        <p:spPr>
          <a:prstGeom prst="rect">
            <a:avLst/>
          </a:prstGeom>
        </p:spPr>
        <p:txBody>
          <a:bodyPr/>
          <a:lstStyle/>
          <a:p>
            <a:pPr/>
          </a:p>
        </p:txBody>
      </p:sp>
      <p:sp>
        <p:nvSpPr>
          <p:cNvPr id="143" name="Shape 143"/>
          <p:cNvSpPr/>
          <p:nvPr>
            <p:ph type="body" sz="quarter" idx="1"/>
          </p:nvPr>
        </p:nvSpPr>
        <p:spPr>
          <a:prstGeom prst="rect">
            <a:avLst/>
          </a:prstGeom>
        </p:spPr>
        <p:txBody>
          <a:bodyPr/>
          <a:lstStyle/>
          <a:p>
            <a:pPr/>
            <a:r>
              <a:t>Be precise about what is removal and what is avoided emissions. Removal by algae and plants is about 25 to 85 kg of CO₂ a year, roughly one to four mature trees at 20 to 25 kg each. Solar adds avoided emissions on top, which depend on the local grid. These are estimates and the sensors on the tree will replace them with measurements.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1" name="Shape 161"/>
          <p:cNvSpPr/>
          <p:nvPr>
            <p:ph type="sldImg"/>
          </p:nvPr>
        </p:nvSpPr>
        <p:spPr>
          <a:prstGeom prst="rect">
            <a:avLst/>
          </a:prstGeom>
        </p:spPr>
        <p:txBody>
          <a:bodyPr/>
          <a:lstStyle/>
          <a:p>
            <a:pPr/>
          </a:p>
        </p:txBody>
      </p:sp>
      <p:sp>
        <p:nvSpPr>
          <p:cNvPr id="162" name="Shape 162"/>
          <p:cNvSpPr/>
          <p:nvPr>
            <p:ph type="body" sz="quarter" idx="1"/>
          </p:nvPr>
        </p:nvSpPr>
        <p:spPr>
          <a:prstGeom prst="rect">
            <a:avLst/>
          </a:prstGeom>
        </p:spPr>
        <p:txBody>
          <a:bodyPr/>
          <a:lstStyle/>
          <a:p>
            <a:pPr/>
            <a:r>
              <a:t>This is the honest pitch. The strongest benefits are measured local air data, shade, charging and awareness. A network of trees becomes a dense, low-cost monitoring grid, which most cities lack.</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9" name="Shape 189"/>
          <p:cNvSpPr/>
          <p:nvPr>
            <p:ph type="sldImg"/>
          </p:nvPr>
        </p:nvSpPr>
        <p:spPr>
          <a:prstGeom prst="rect">
            <a:avLst/>
          </a:prstGeom>
        </p:spPr>
        <p:txBody>
          <a:bodyPr/>
          <a:lstStyle/>
          <a:p>
            <a:pPr/>
          </a:p>
        </p:txBody>
      </p:sp>
      <p:sp>
        <p:nvSpPr>
          <p:cNvPr id="190" name="Shape 190"/>
          <p:cNvSpPr/>
          <p:nvPr>
            <p:ph type="body" sz="quarter" idx="1"/>
          </p:nvPr>
        </p:nvSpPr>
        <p:spPr>
          <a:prstGeom prst="rect">
            <a:avLst/>
          </a:prstGeom>
        </p:spPr>
        <p:txBody>
          <a:bodyPr/>
          <a:lstStyle/>
          <a:p>
            <a:pPr/>
            <a:r>
              <a:t>The tree sends its readings to a cloud database every minute or so, and the website reads from it. The apps can start as an installable web app, so there is no need to build separate iOS and Android versions first. Real, measured data makes the environmental claims credible.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6" name="Shape 206"/>
          <p:cNvSpPr/>
          <p:nvPr>
            <p:ph type="sldImg"/>
          </p:nvPr>
        </p:nvSpPr>
        <p:spPr>
          <a:prstGeom prst="rect">
            <a:avLst/>
          </a:prstGeom>
        </p:spPr>
        <p:txBody>
          <a:bodyPr/>
          <a:lstStyle/>
          <a:p>
            <a:pPr/>
          </a:p>
        </p:txBody>
      </p:sp>
      <p:sp>
        <p:nvSpPr>
          <p:cNvPr id="207" name="Shape 207"/>
          <p:cNvSpPr/>
          <p:nvPr>
            <p:ph type="body" sz="quarter" idx="1"/>
          </p:nvPr>
        </p:nvSpPr>
        <p:spPr>
          <a:prstGeom prst="rect">
            <a:avLst/>
          </a:prstGeom>
        </p:spPr>
        <p:txBody>
          <a:bodyPr/>
          <a:lstStyle/>
          <a:p>
            <a:pPr/>
            <a:r>
              <a:t>Version 1 is what we show today. Version 2 adds the heavier modules once the electronics and data pipeline work. Version 3 is the research tier: the gallium-indium and cobalt and nickel-iron catalysts are promising in lab research but not yet proven at street scale, so they stay a goal.</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4" name="Shape 214"/>
          <p:cNvSpPr/>
          <p:nvPr>
            <p:ph type="sldImg"/>
          </p:nvPr>
        </p:nvSpPr>
        <p:spPr>
          <a:prstGeom prst="rect">
            <a:avLst/>
          </a:prstGeom>
        </p:spPr>
        <p:txBody>
          <a:bodyPr/>
          <a:lstStyle/>
          <a:p>
            <a:pPr/>
          </a:p>
        </p:txBody>
      </p:sp>
      <p:sp>
        <p:nvSpPr>
          <p:cNvPr id="215" name="Shape 215"/>
          <p:cNvSpPr/>
          <p:nvPr>
            <p:ph type="body" sz="quarter" idx="1"/>
          </p:nvPr>
        </p:nvSpPr>
        <p:spPr>
          <a:prstGeom prst="rect">
            <a:avLst/>
          </a:prstGeom>
        </p:spPr>
        <p:txBody>
          <a:bodyPr/>
          <a:lstStyle/>
          <a:p>
            <a:pPr/>
            <a:r>
              <a:t>Close on the one-line promise, then the specific ask. Replace the bracketed text with what you want from the jury, for example a funding amount, a pilot location or mentoring, and your contact details.</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nd body">
    <p:spTree>
      <p:nvGrpSpPr>
        <p:cNvPr id="1" name=""/>
        <p:cNvGrpSpPr/>
        <p:nvPr/>
      </p:nvGrpSpPr>
      <p:grpSpPr>
        <a:xfrm>
          <a:off x="0" y="0"/>
          <a:ext cx="0" cy="0"/>
          <a:chOff x="0" y="0"/>
          <a:chExt cx="0" cy="0"/>
        </a:xfrm>
      </p:grpSpPr>
      <p:sp>
        <p:nvSpPr>
          <p:cNvPr id="18" name="Title Text"/>
          <p:cNvSpPr txBox="1"/>
          <p:nvPr>
            <p:ph type="title"/>
          </p:nvPr>
        </p:nvSpPr>
        <p:spPr>
          <a:xfrm>
            <a:off x="812800" y="1280120"/>
            <a:ext cx="10566400" cy="447031"/>
          </a:xfrm>
          <a:prstGeom prst="rect">
            <a:avLst/>
          </a:prstGeom>
        </p:spPr>
        <p:txBody>
          <a:bodyPr>
            <a:normAutofit fontScale="100000" lnSpcReduction="0"/>
          </a:bodyPr>
          <a:lstStyle/>
          <a:p>
            <a:pPr/>
            <a:r>
              <a:t>Title Text</a:t>
            </a:r>
          </a:p>
        </p:txBody>
      </p:sp>
      <p:sp>
        <p:nvSpPr>
          <p:cNvPr id="19" name="Body Level One…"/>
          <p:cNvSpPr txBox="1"/>
          <p:nvPr>
            <p:ph type="body" idx="1"/>
          </p:nvPr>
        </p:nvSpPr>
        <p:spPr>
          <a:xfrm>
            <a:off x="812800" y="2031950"/>
            <a:ext cx="10566400" cy="4013250"/>
          </a:xfrm>
          <a:prstGeom prst="rect">
            <a:avLst/>
          </a:prstGeom>
        </p:spPr>
        <p:txBody>
          <a:bodyPr>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2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0F2D28"/>
        </a:solidFill>
      </p:bgPr>
    </p:bg>
    <p:spTree>
      <p:nvGrpSpPr>
        <p:cNvPr id="1" name=""/>
        <p:cNvGrpSpPr/>
        <p:nvPr/>
      </p:nvGrpSpPr>
      <p:grpSpPr>
        <a:xfrm>
          <a:off x="0" y="0"/>
          <a:ext cx="0" cy="0"/>
          <a:chOff x="0" y="0"/>
          <a:chExt cx="0" cy="0"/>
        </a:xfrm>
      </p:grpSpPr>
      <p:sp>
        <p:nvSpPr>
          <p:cNvPr id="2" name="Title Text"/>
          <p:cNvSpPr txBox="1"/>
          <p:nvPr>
            <p:ph type="title"/>
          </p:nvPr>
        </p:nvSpPr>
        <p:spPr>
          <a:xfrm>
            <a:off x="609600" y="274637"/>
            <a:ext cx="10972800" cy="1325564"/>
          </a:xfrm>
          <a:prstGeom prst="rect">
            <a:avLst/>
          </a:prstGeom>
          <a:ln w="12700">
            <a:miter lim="400000"/>
          </a:ln>
          <a:extLst>
            <a:ext uri="{C572A759-6A51-4108-AA02-DFA0A04FC94B}">
              <ma14:wrappingTextBoxFlag xmlns:ma14="http://schemas.microsoft.com/office/mac/drawingml/2011/main" val="1"/>
            </a:ext>
          </a:extLst>
        </p:spPr>
        <p:txBody>
          <a:bodyPr lIns="0" tIns="0" rIns="0" bIns="0"/>
          <a:lstStyle/>
          <a:p>
            <a:pPr/>
            <a:r>
              <a:t>Title Text</a:t>
            </a:r>
          </a:p>
        </p:txBody>
      </p:sp>
      <p:sp>
        <p:nvSpPr>
          <p:cNvPr id="3" name="Body Level One…"/>
          <p:cNvSpPr txBox="1"/>
          <p:nvPr>
            <p:ph type="body" idx="1"/>
          </p:nvPr>
        </p:nvSpPr>
        <p:spPr>
          <a:xfrm>
            <a:off x="609600" y="1600200"/>
            <a:ext cx="10972800" cy="5257800"/>
          </a:xfrm>
          <a:prstGeom prst="rect">
            <a:avLst/>
          </a:prstGeom>
          <a:ln w="12700">
            <a:miter lim="400000"/>
          </a:ln>
          <a:extLst>
            <a:ext uri="{C572A759-6A51-4108-AA02-DFA0A04FC94B}">
              <ma14:wrappingTextBoxFlag xmlns:ma14="http://schemas.microsoft.com/office/mac/drawingml/2011/main" val="1"/>
            </a:ext>
          </a:extLst>
        </p:spPr>
        <p:txBody>
          <a:bodyPr lIns="0" tIns="0" rIns="0" bIns="0"/>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5892800" y="6172200"/>
            <a:ext cx="2844800" cy="368301"/>
          </a:xfrm>
          <a:prstGeom prst="rect">
            <a:avLst/>
          </a:prstGeom>
          <a:ln w="12700">
            <a:miter lim="400000"/>
          </a:ln>
        </p:spPr>
        <p:txBody>
          <a:bodyPr wrap="none" lIns="45719" rIns="45719" anchor="ctr">
            <a:spAutoFit/>
          </a:bodyPr>
          <a:lstStyle>
            <a:lvl1pPr algn="r">
              <a:defRPr sz="1200">
                <a:solidFill>
                  <a:srgbClr val="F5F2E9"/>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transition xmlns:p14="http://schemas.microsoft.com/office/powerpoint/2010/main" spd="med" advClick="1"/>
  <p:txStyles>
    <p:titleStyle>
      <a:lvl1pPr marL="0" marR="0" indent="0" algn="l" defTabSz="914400" rtl="0" latinLnBrk="0">
        <a:lnSpc>
          <a:spcPct val="115000"/>
        </a:lnSpc>
        <a:spcBef>
          <a:spcPts val="0"/>
        </a:spcBef>
        <a:spcAft>
          <a:spcPts val="0"/>
        </a:spcAft>
        <a:buClrTx/>
        <a:buSzTx/>
        <a:buFontTx/>
        <a:buNone/>
        <a:tabLst/>
        <a:defRPr b="0" baseline="0" cap="none" i="0" spc="0" strike="noStrike" sz="3200" u="none">
          <a:solidFill>
            <a:srgbClr val="F5F2E9"/>
          </a:solidFill>
          <a:uFillTx/>
          <a:latin typeface="+mj-lt"/>
          <a:ea typeface="+mj-ea"/>
          <a:cs typeface="+mj-cs"/>
          <a:sym typeface="Arial"/>
        </a:defRPr>
      </a:lvl1pPr>
      <a:lvl2pPr marL="0" marR="0" indent="0" algn="l" defTabSz="914400" rtl="0" latinLnBrk="0">
        <a:lnSpc>
          <a:spcPct val="115000"/>
        </a:lnSpc>
        <a:spcBef>
          <a:spcPts val="0"/>
        </a:spcBef>
        <a:spcAft>
          <a:spcPts val="0"/>
        </a:spcAft>
        <a:buClrTx/>
        <a:buSzTx/>
        <a:buFontTx/>
        <a:buNone/>
        <a:tabLst/>
        <a:defRPr b="0" baseline="0" cap="none" i="0" spc="0" strike="noStrike" sz="3200" u="none">
          <a:solidFill>
            <a:srgbClr val="F5F2E9"/>
          </a:solidFill>
          <a:uFillTx/>
          <a:latin typeface="+mj-lt"/>
          <a:ea typeface="+mj-ea"/>
          <a:cs typeface="+mj-cs"/>
          <a:sym typeface="Arial"/>
        </a:defRPr>
      </a:lvl2pPr>
      <a:lvl3pPr marL="0" marR="0" indent="0" algn="l" defTabSz="914400" rtl="0" latinLnBrk="0">
        <a:lnSpc>
          <a:spcPct val="115000"/>
        </a:lnSpc>
        <a:spcBef>
          <a:spcPts val="0"/>
        </a:spcBef>
        <a:spcAft>
          <a:spcPts val="0"/>
        </a:spcAft>
        <a:buClrTx/>
        <a:buSzTx/>
        <a:buFontTx/>
        <a:buNone/>
        <a:tabLst/>
        <a:defRPr b="0" baseline="0" cap="none" i="0" spc="0" strike="noStrike" sz="3200" u="none">
          <a:solidFill>
            <a:srgbClr val="F5F2E9"/>
          </a:solidFill>
          <a:uFillTx/>
          <a:latin typeface="+mj-lt"/>
          <a:ea typeface="+mj-ea"/>
          <a:cs typeface="+mj-cs"/>
          <a:sym typeface="Arial"/>
        </a:defRPr>
      </a:lvl3pPr>
      <a:lvl4pPr marL="0" marR="0" indent="0" algn="l" defTabSz="914400" rtl="0" latinLnBrk="0">
        <a:lnSpc>
          <a:spcPct val="115000"/>
        </a:lnSpc>
        <a:spcBef>
          <a:spcPts val="0"/>
        </a:spcBef>
        <a:spcAft>
          <a:spcPts val="0"/>
        </a:spcAft>
        <a:buClrTx/>
        <a:buSzTx/>
        <a:buFontTx/>
        <a:buNone/>
        <a:tabLst/>
        <a:defRPr b="0" baseline="0" cap="none" i="0" spc="0" strike="noStrike" sz="3200" u="none">
          <a:solidFill>
            <a:srgbClr val="F5F2E9"/>
          </a:solidFill>
          <a:uFillTx/>
          <a:latin typeface="+mj-lt"/>
          <a:ea typeface="+mj-ea"/>
          <a:cs typeface="+mj-cs"/>
          <a:sym typeface="Arial"/>
        </a:defRPr>
      </a:lvl4pPr>
      <a:lvl5pPr marL="0" marR="0" indent="0" algn="l" defTabSz="914400" rtl="0" latinLnBrk="0">
        <a:lnSpc>
          <a:spcPct val="115000"/>
        </a:lnSpc>
        <a:spcBef>
          <a:spcPts val="0"/>
        </a:spcBef>
        <a:spcAft>
          <a:spcPts val="0"/>
        </a:spcAft>
        <a:buClrTx/>
        <a:buSzTx/>
        <a:buFontTx/>
        <a:buNone/>
        <a:tabLst/>
        <a:defRPr b="0" baseline="0" cap="none" i="0" spc="0" strike="noStrike" sz="3200" u="none">
          <a:solidFill>
            <a:srgbClr val="F5F2E9"/>
          </a:solidFill>
          <a:uFillTx/>
          <a:latin typeface="+mj-lt"/>
          <a:ea typeface="+mj-ea"/>
          <a:cs typeface="+mj-cs"/>
          <a:sym typeface="Arial"/>
        </a:defRPr>
      </a:lvl5pPr>
      <a:lvl6pPr marL="0" marR="0" indent="0" algn="l" defTabSz="914400" rtl="0" latinLnBrk="0">
        <a:lnSpc>
          <a:spcPct val="115000"/>
        </a:lnSpc>
        <a:spcBef>
          <a:spcPts val="0"/>
        </a:spcBef>
        <a:spcAft>
          <a:spcPts val="0"/>
        </a:spcAft>
        <a:buClrTx/>
        <a:buSzTx/>
        <a:buFontTx/>
        <a:buNone/>
        <a:tabLst/>
        <a:defRPr b="0" baseline="0" cap="none" i="0" spc="0" strike="noStrike" sz="3200" u="none">
          <a:solidFill>
            <a:srgbClr val="F5F2E9"/>
          </a:solidFill>
          <a:uFillTx/>
          <a:latin typeface="+mj-lt"/>
          <a:ea typeface="+mj-ea"/>
          <a:cs typeface="+mj-cs"/>
          <a:sym typeface="Arial"/>
        </a:defRPr>
      </a:lvl6pPr>
      <a:lvl7pPr marL="0" marR="0" indent="0" algn="l" defTabSz="914400" rtl="0" latinLnBrk="0">
        <a:lnSpc>
          <a:spcPct val="115000"/>
        </a:lnSpc>
        <a:spcBef>
          <a:spcPts val="0"/>
        </a:spcBef>
        <a:spcAft>
          <a:spcPts val="0"/>
        </a:spcAft>
        <a:buClrTx/>
        <a:buSzTx/>
        <a:buFontTx/>
        <a:buNone/>
        <a:tabLst/>
        <a:defRPr b="0" baseline="0" cap="none" i="0" spc="0" strike="noStrike" sz="3200" u="none">
          <a:solidFill>
            <a:srgbClr val="F5F2E9"/>
          </a:solidFill>
          <a:uFillTx/>
          <a:latin typeface="+mj-lt"/>
          <a:ea typeface="+mj-ea"/>
          <a:cs typeface="+mj-cs"/>
          <a:sym typeface="Arial"/>
        </a:defRPr>
      </a:lvl7pPr>
      <a:lvl8pPr marL="0" marR="0" indent="0" algn="l" defTabSz="914400" rtl="0" latinLnBrk="0">
        <a:lnSpc>
          <a:spcPct val="115000"/>
        </a:lnSpc>
        <a:spcBef>
          <a:spcPts val="0"/>
        </a:spcBef>
        <a:spcAft>
          <a:spcPts val="0"/>
        </a:spcAft>
        <a:buClrTx/>
        <a:buSzTx/>
        <a:buFontTx/>
        <a:buNone/>
        <a:tabLst/>
        <a:defRPr b="0" baseline="0" cap="none" i="0" spc="0" strike="noStrike" sz="3200" u="none">
          <a:solidFill>
            <a:srgbClr val="F5F2E9"/>
          </a:solidFill>
          <a:uFillTx/>
          <a:latin typeface="+mj-lt"/>
          <a:ea typeface="+mj-ea"/>
          <a:cs typeface="+mj-cs"/>
          <a:sym typeface="Arial"/>
        </a:defRPr>
      </a:lvl8pPr>
      <a:lvl9pPr marL="0" marR="0" indent="0" algn="l" defTabSz="914400" rtl="0" latinLnBrk="0">
        <a:lnSpc>
          <a:spcPct val="115000"/>
        </a:lnSpc>
        <a:spcBef>
          <a:spcPts val="0"/>
        </a:spcBef>
        <a:spcAft>
          <a:spcPts val="0"/>
        </a:spcAft>
        <a:buClrTx/>
        <a:buSzTx/>
        <a:buFontTx/>
        <a:buNone/>
        <a:tabLst/>
        <a:defRPr b="0" baseline="0" cap="none" i="0" spc="0" strike="noStrike" sz="3200" u="none">
          <a:solidFill>
            <a:srgbClr val="F5F2E9"/>
          </a:solidFill>
          <a:uFillTx/>
          <a:latin typeface="+mj-lt"/>
          <a:ea typeface="+mj-ea"/>
          <a:cs typeface="+mj-cs"/>
          <a:sym typeface="Arial"/>
        </a:defRPr>
      </a:lvl9pPr>
    </p:titleStyle>
    <p:bodyStyle>
      <a:lvl1pPr marL="0" marR="0" indent="0" algn="l" defTabSz="914400" rtl="0" latinLnBrk="0">
        <a:lnSpc>
          <a:spcPct val="140000"/>
        </a:lnSpc>
        <a:spcBef>
          <a:spcPts val="300"/>
        </a:spcBef>
        <a:spcAft>
          <a:spcPts val="0"/>
        </a:spcAft>
        <a:buClrTx/>
        <a:buSzTx/>
        <a:buFontTx/>
        <a:buNone/>
        <a:tabLst/>
        <a:defRPr b="0" baseline="0" cap="none" i="0" spc="0" strike="noStrike" sz="1600" u="none">
          <a:solidFill>
            <a:srgbClr val="F5F2E9"/>
          </a:solidFill>
          <a:uFillTx/>
          <a:latin typeface="+mj-lt"/>
          <a:ea typeface="+mj-ea"/>
          <a:cs typeface="+mj-cs"/>
          <a:sym typeface="Arial"/>
        </a:defRPr>
      </a:lvl1pPr>
      <a:lvl2pPr marL="620485" marR="0" indent="-163285" algn="l" defTabSz="914400" rtl="0" latinLnBrk="0">
        <a:lnSpc>
          <a:spcPct val="140000"/>
        </a:lnSpc>
        <a:spcBef>
          <a:spcPts val="300"/>
        </a:spcBef>
        <a:spcAft>
          <a:spcPts val="0"/>
        </a:spcAft>
        <a:buClrTx/>
        <a:buSzPct val="100000"/>
        <a:buFontTx/>
        <a:buChar char="–"/>
        <a:tabLst/>
        <a:defRPr b="0" baseline="0" cap="none" i="0" spc="0" strike="noStrike" sz="1600" u="none">
          <a:solidFill>
            <a:srgbClr val="F5F2E9"/>
          </a:solidFill>
          <a:uFillTx/>
          <a:latin typeface="+mj-lt"/>
          <a:ea typeface="+mj-ea"/>
          <a:cs typeface="+mj-cs"/>
          <a:sym typeface="Arial"/>
        </a:defRPr>
      </a:lvl2pPr>
      <a:lvl3pPr marL="1066800" marR="0" indent="-152400" algn="l" defTabSz="914400" rtl="0" latinLnBrk="0">
        <a:lnSpc>
          <a:spcPct val="140000"/>
        </a:lnSpc>
        <a:spcBef>
          <a:spcPts val="300"/>
        </a:spcBef>
        <a:spcAft>
          <a:spcPts val="0"/>
        </a:spcAft>
        <a:buClrTx/>
        <a:buSzPct val="100000"/>
        <a:buFontTx/>
        <a:buChar char="•"/>
        <a:tabLst/>
        <a:defRPr b="0" baseline="0" cap="none" i="0" spc="0" strike="noStrike" sz="1600" u="none">
          <a:solidFill>
            <a:srgbClr val="F5F2E9"/>
          </a:solidFill>
          <a:uFillTx/>
          <a:latin typeface="+mj-lt"/>
          <a:ea typeface="+mj-ea"/>
          <a:cs typeface="+mj-cs"/>
          <a:sym typeface="Arial"/>
        </a:defRPr>
      </a:lvl3pPr>
      <a:lvl4pPr marL="1554480" marR="0" indent="-182880" algn="l" defTabSz="914400" rtl="0" latinLnBrk="0">
        <a:lnSpc>
          <a:spcPct val="140000"/>
        </a:lnSpc>
        <a:spcBef>
          <a:spcPts val="300"/>
        </a:spcBef>
        <a:spcAft>
          <a:spcPts val="0"/>
        </a:spcAft>
        <a:buClrTx/>
        <a:buSzPct val="100000"/>
        <a:buFontTx/>
        <a:buChar char="–"/>
        <a:tabLst/>
        <a:defRPr b="0" baseline="0" cap="none" i="0" spc="0" strike="noStrike" sz="1600" u="none">
          <a:solidFill>
            <a:srgbClr val="F5F2E9"/>
          </a:solidFill>
          <a:uFillTx/>
          <a:latin typeface="+mj-lt"/>
          <a:ea typeface="+mj-ea"/>
          <a:cs typeface="+mj-cs"/>
          <a:sym typeface="Arial"/>
        </a:defRPr>
      </a:lvl4pPr>
      <a:lvl5pPr marL="2011679" marR="0" indent="-182879" algn="l" defTabSz="914400" rtl="0" latinLnBrk="0">
        <a:lnSpc>
          <a:spcPct val="140000"/>
        </a:lnSpc>
        <a:spcBef>
          <a:spcPts val="300"/>
        </a:spcBef>
        <a:spcAft>
          <a:spcPts val="0"/>
        </a:spcAft>
        <a:buClrTx/>
        <a:buSzPct val="100000"/>
        <a:buFontTx/>
        <a:buChar char="»"/>
        <a:tabLst/>
        <a:defRPr b="0" baseline="0" cap="none" i="0" spc="0" strike="noStrike" sz="1600" u="none">
          <a:solidFill>
            <a:srgbClr val="F5F2E9"/>
          </a:solidFill>
          <a:uFillTx/>
          <a:latin typeface="+mj-lt"/>
          <a:ea typeface="+mj-ea"/>
          <a:cs typeface="+mj-cs"/>
          <a:sym typeface="Arial"/>
        </a:defRPr>
      </a:lvl5pPr>
      <a:lvl6pPr marL="2468879" marR="0" indent="-182879" algn="l" defTabSz="914400" rtl="0" latinLnBrk="0">
        <a:lnSpc>
          <a:spcPct val="140000"/>
        </a:lnSpc>
        <a:spcBef>
          <a:spcPts val="300"/>
        </a:spcBef>
        <a:spcAft>
          <a:spcPts val="0"/>
        </a:spcAft>
        <a:buClrTx/>
        <a:buSzPct val="100000"/>
        <a:buFontTx/>
        <a:buChar char="•"/>
        <a:tabLst/>
        <a:defRPr b="0" baseline="0" cap="none" i="0" spc="0" strike="noStrike" sz="1600" u="none">
          <a:solidFill>
            <a:srgbClr val="F5F2E9"/>
          </a:solidFill>
          <a:uFillTx/>
          <a:latin typeface="+mj-lt"/>
          <a:ea typeface="+mj-ea"/>
          <a:cs typeface="+mj-cs"/>
          <a:sym typeface="Arial"/>
        </a:defRPr>
      </a:lvl6pPr>
      <a:lvl7pPr marL="2926079" marR="0" indent="-182879" algn="l" defTabSz="914400" rtl="0" latinLnBrk="0">
        <a:lnSpc>
          <a:spcPct val="140000"/>
        </a:lnSpc>
        <a:spcBef>
          <a:spcPts val="300"/>
        </a:spcBef>
        <a:spcAft>
          <a:spcPts val="0"/>
        </a:spcAft>
        <a:buClrTx/>
        <a:buSzPct val="100000"/>
        <a:buFontTx/>
        <a:buChar char="•"/>
        <a:tabLst/>
        <a:defRPr b="0" baseline="0" cap="none" i="0" spc="0" strike="noStrike" sz="1600" u="none">
          <a:solidFill>
            <a:srgbClr val="F5F2E9"/>
          </a:solidFill>
          <a:uFillTx/>
          <a:latin typeface="+mj-lt"/>
          <a:ea typeface="+mj-ea"/>
          <a:cs typeface="+mj-cs"/>
          <a:sym typeface="Arial"/>
        </a:defRPr>
      </a:lvl7pPr>
      <a:lvl8pPr marL="3383279" marR="0" indent="-182879" algn="l" defTabSz="914400" rtl="0" latinLnBrk="0">
        <a:lnSpc>
          <a:spcPct val="140000"/>
        </a:lnSpc>
        <a:spcBef>
          <a:spcPts val="300"/>
        </a:spcBef>
        <a:spcAft>
          <a:spcPts val="0"/>
        </a:spcAft>
        <a:buClrTx/>
        <a:buSzPct val="100000"/>
        <a:buFontTx/>
        <a:buChar char="•"/>
        <a:tabLst/>
        <a:defRPr b="0" baseline="0" cap="none" i="0" spc="0" strike="noStrike" sz="1600" u="none">
          <a:solidFill>
            <a:srgbClr val="F5F2E9"/>
          </a:solidFill>
          <a:uFillTx/>
          <a:latin typeface="+mj-lt"/>
          <a:ea typeface="+mj-ea"/>
          <a:cs typeface="+mj-cs"/>
          <a:sym typeface="Arial"/>
        </a:defRPr>
      </a:lvl8pPr>
      <a:lvl9pPr marL="3840479" marR="0" indent="-182879" algn="l" defTabSz="914400" rtl="0" latinLnBrk="0">
        <a:lnSpc>
          <a:spcPct val="140000"/>
        </a:lnSpc>
        <a:spcBef>
          <a:spcPts val="300"/>
        </a:spcBef>
        <a:spcAft>
          <a:spcPts val="0"/>
        </a:spcAft>
        <a:buClrTx/>
        <a:buSzPct val="100000"/>
        <a:buFontTx/>
        <a:buChar char="•"/>
        <a:tabLst/>
        <a:defRPr b="0" baseline="0" cap="none" i="0" spc="0" strike="noStrike" sz="1600" u="none">
          <a:solidFill>
            <a:srgbClr val="F5F2E9"/>
          </a:solidFill>
          <a:uFillTx/>
          <a:latin typeface="+mj-lt"/>
          <a:ea typeface="+mj-ea"/>
          <a:cs typeface="+mj-cs"/>
          <a:sym typeface="Arial"/>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1pPr>
      <a:lvl2pPr marL="0" marR="0" indent="457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2pPr>
      <a:lvl3pPr marL="0" marR="0" indent="914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3pPr>
      <a:lvl4pPr marL="0" marR="0" indent="1371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4pPr>
      <a:lvl5pPr marL="0" marR="0" indent="18288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5pPr>
      <a:lvl6pPr marL="0" marR="0" indent="22860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6pPr>
      <a:lvl7pPr marL="0" marR="0" indent="2743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7pPr>
      <a:lvl8pPr marL="0" marR="0" indent="3200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8pPr>
      <a:lvl9pPr marL="0" marR="0" indent="3657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png"/></Relationships>

</file>

<file path=ppt/slides/_rels/slide5.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2.png"/></Relationships>

</file>

<file path=ppt/slides/_rels/slide6.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2.png"/></Relationships>

</file>

<file path=ppt/slides/_rels/slide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mailto:ali.kubatbaev1@gmail.com" TargetMode="Externa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chemeClr val="accent3">
            <a:lumOff val="-7803"/>
          </a:schemeClr>
        </a:solidFill>
      </p:bgPr>
    </p:bg>
    <p:spTree>
      <p:nvGrpSpPr>
        <p:cNvPr id="1" name=""/>
        <p:cNvGrpSpPr/>
        <p:nvPr/>
      </p:nvGrpSpPr>
      <p:grpSpPr>
        <a:xfrm>
          <a:off x="0" y="0"/>
          <a:ext cx="0" cy="0"/>
          <a:chOff x="0" y="0"/>
          <a:chExt cx="0" cy="0"/>
        </a:xfrm>
      </p:grpSpPr>
      <p:sp>
        <p:nvSpPr>
          <p:cNvPr id="29" name="Text 0"/>
          <p:cNvSpPr txBox="1"/>
          <p:nvPr/>
        </p:nvSpPr>
        <p:spPr>
          <a:xfrm>
            <a:off x="812799" y="812800"/>
            <a:ext cx="10883394" cy="27429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900"/>
              </a:lnSpc>
              <a:defRPr b="1" spc="200" sz="1400">
                <a:solidFill>
                  <a:schemeClr val="accent1"/>
                </a:solidFill>
              </a:defRPr>
            </a:lvl1pPr>
          </a:lstStyle>
          <a:p>
            <a:pPr/>
            <a:r>
              <a:t>SMART SOLAR TREE · MVP</a:t>
            </a:r>
          </a:p>
        </p:txBody>
      </p:sp>
      <p:sp>
        <p:nvSpPr>
          <p:cNvPr id="30" name="Text 1"/>
          <p:cNvSpPr txBox="1"/>
          <p:nvPr>
            <p:ph type="title"/>
          </p:nvPr>
        </p:nvSpPr>
        <p:spPr>
          <a:xfrm>
            <a:off x="812799" y="2387600"/>
            <a:ext cx="10883394" cy="1143000"/>
          </a:xfrm>
          <a:prstGeom prst="rect">
            <a:avLst/>
          </a:prstGeom>
        </p:spPr>
        <p:txBody>
          <a:bodyPr/>
          <a:lstStyle>
            <a:lvl1pPr>
              <a:lnSpc>
                <a:spcPts val="8800"/>
              </a:lnSpc>
              <a:defRPr b="1" sz="8800"/>
            </a:lvl1pPr>
          </a:lstStyle>
          <a:p>
            <a:pPr/>
            <a:r>
              <a:t>Arbora</a:t>
            </a:r>
          </a:p>
        </p:txBody>
      </p:sp>
      <p:sp>
        <p:nvSpPr>
          <p:cNvPr id="31" name="Text 2"/>
          <p:cNvSpPr txBox="1"/>
          <p:nvPr/>
        </p:nvSpPr>
        <p:spPr>
          <a:xfrm>
            <a:off x="812800" y="3708400"/>
            <a:ext cx="6540500" cy="78740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3000"/>
              </a:lnSpc>
              <a:defRPr sz="2400">
                <a:solidFill>
                  <a:srgbClr val="CFE0DA"/>
                </a:solidFill>
              </a:defRPr>
            </a:lvl1pPr>
          </a:lstStyle>
          <a:p>
            <a:pPr/>
            <a:r>
              <a:t>A tree that powers, measures and cools your city.</a:t>
            </a:r>
          </a:p>
        </p:txBody>
      </p:sp>
      <p:sp>
        <p:nvSpPr>
          <p:cNvPr id="32" name="Text 3"/>
          <p:cNvSpPr txBox="1"/>
          <p:nvPr/>
        </p:nvSpPr>
        <p:spPr>
          <a:xfrm>
            <a:off x="10507237" y="6466935"/>
            <a:ext cx="8605026" cy="27429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defTabSz="457200">
              <a:lnSpc>
                <a:spcPts val="3100"/>
              </a:lnSpc>
              <a:spcBef>
                <a:spcPts val="300"/>
              </a:spcBef>
              <a:defRPr sz="1900">
                <a:solidFill>
                  <a:srgbClr val="FFFFFF"/>
                </a:solidFill>
              </a:defRPr>
            </a:lvl1pPr>
          </a:lstStyle>
          <a:p>
            <a:pPr/>
            <a:r>
              <a:t>Arbora Team</a:t>
            </a:r>
          </a:p>
        </p:txBody>
      </p:sp>
      <p:pic>
        <p:nvPicPr>
          <p:cNvPr id="33" name="arbora-mark.svg" descr="arbora-mark.svg"/>
          <p:cNvPicPr>
            <a:picLocks noChangeAspect="1"/>
          </p:cNvPicPr>
          <p:nvPr/>
        </p:nvPicPr>
        <p:blipFill>
          <a:blip r:embed="rId3">
            <a:extLst/>
          </a:blip>
          <a:stretch>
            <a:fillRect/>
          </a:stretch>
        </p:blipFill>
        <p:spPr>
          <a:xfrm>
            <a:off x="6982185" y="1114314"/>
            <a:ext cx="4222304" cy="4222304"/>
          </a:xfrm>
          <a:prstGeom prst="rect">
            <a:avLst/>
          </a:prstGeom>
          <a:ln w="12700">
            <a:miter lim="400000"/>
          </a:ln>
        </p:spPr>
      </p:pic>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5F2E9"/>
        </a:solidFill>
      </p:bgPr>
    </p:bg>
    <p:spTree>
      <p:nvGrpSpPr>
        <p:cNvPr id="1" name=""/>
        <p:cNvGrpSpPr/>
        <p:nvPr/>
      </p:nvGrpSpPr>
      <p:grpSpPr>
        <a:xfrm>
          <a:off x="0" y="0"/>
          <a:ext cx="0" cy="0"/>
          <a:chOff x="0" y="0"/>
          <a:chExt cx="0" cy="0"/>
        </a:xfrm>
      </p:grpSpPr>
      <p:sp>
        <p:nvSpPr>
          <p:cNvPr id="37" name="Text 0"/>
          <p:cNvSpPr txBox="1"/>
          <p:nvPr/>
        </p:nvSpPr>
        <p:spPr>
          <a:xfrm>
            <a:off x="812799" y="812800"/>
            <a:ext cx="10883394" cy="23872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pc="100" sz="1200">
                <a:solidFill>
                  <a:schemeClr val="accent2"/>
                </a:solidFill>
              </a:defRPr>
            </a:lvl1pPr>
          </a:lstStyle>
          <a:p>
            <a:pPr/>
            <a:r>
              <a:t>THE PROBLEM</a:t>
            </a:r>
          </a:p>
        </p:txBody>
      </p:sp>
      <p:sp>
        <p:nvSpPr>
          <p:cNvPr id="38" name="Text 1"/>
          <p:cNvSpPr txBox="1"/>
          <p:nvPr>
            <p:ph type="title"/>
          </p:nvPr>
        </p:nvSpPr>
        <p:spPr>
          <a:xfrm>
            <a:off x="812799" y="1280120"/>
            <a:ext cx="10883394" cy="919460"/>
          </a:xfrm>
          <a:prstGeom prst="rect">
            <a:avLst/>
          </a:prstGeom>
        </p:spPr>
        <p:txBody>
          <a:bodyPr/>
          <a:lstStyle>
            <a:lvl1pPr>
              <a:lnSpc>
                <a:spcPts val="3500"/>
              </a:lnSpc>
              <a:defRPr b="1">
                <a:solidFill>
                  <a:srgbClr val="16302B"/>
                </a:solidFill>
              </a:defRPr>
            </a:lvl1pPr>
          </a:lstStyle>
          <a:p>
            <a:pPr/>
            <a:r>
              <a:t>Cities lack clean-air data, shade and public power at street level</a:t>
            </a:r>
          </a:p>
        </p:txBody>
      </p:sp>
      <p:sp>
        <p:nvSpPr>
          <p:cNvPr id="39" name="Shape 2"/>
          <p:cNvSpPr/>
          <p:nvPr/>
        </p:nvSpPr>
        <p:spPr>
          <a:xfrm>
            <a:off x="815975" y="2431355"/>
            <a:ext cx="3380284" cy="1916312"/>
          </a:xfrm>
          <a:prstGeom prst="roundRect">
            <a:avLst>
              <a:gd name="adj" fmla="val 5136"/>
            </a:avLst>
          </a:prstGeom>
          <a:solidFill>
            <a:srgbClr val="FBFAF5"/>
          </a:solidFill>
          <a:ln w="6350">
            <a:solidFill>
              <a:srgbClr val="DDD6C4"/>
            </a:solidFill>
          </a:ln>
        </p:spPr>
        <p:txBody>
          <a:bodyPr lIns="45719" rIns="45719"/>
          <a:lstStyle/>
          <a:p>
            <a:pPr>
              <a:defRPr>
                <a:solidFill>
                  <a:srgbClr val="F5F2E9"/>
                </a:solidFill>
              </a:defRPr>
            </a:pPr>
          </a:p>
        </p:txBody>
      </p:sp>
      <p:sp>
        <p:nvSpPr>
          <p:cNvPr id="40" name="Text 3"/>
          <p:cNvSpPr txBox="1"/>
          <p:nvPr/>
        </p:nvSpPr>
        <p:spPr>
          <a:xfrm>
            <a:off x="1073149" y="2688530"/>
            <a:ext cx="2951914"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400"/>
              </a:lnSpc>
              <a:defRPr b="1" sz="2000">
                <a:solidFill>
                  <a:srgbClr val="16302B"/>
                </a:solidFill>
              </a:defRPr>
            </a:lvl1pPr>
          </a:lstStyle>
          <a:p>
            <a:pPr/>
            <a:r>
              <a:t>Little local air data</a:t>
            </a:r>
          </a:p>
        </p:txBody>
      </p:sp>
      <p:sp>
        <p:nvSpPr>
          <p:cNvPr id="41" name="Text 4"/>
          <p:cNvSpPr txBox="1"/>
          <p:nvPr/>
        </p:nvSpPr>
        <p:spPr>
          <a:xfrm>
            <a:off x="1073149" y="3094930"/>
            <a:ext cx="2951914" cy="102096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900"/>
              </a:lnSpc>
              <a:defRPr sz="1400">
                <a:solidFill>
                  <a:schemeClr val="accent4"/>
                </a:solidFill>
              </a:defRPr>
            </a:lvl1pPr>
          </a:lstStyle>
          <a:p>
            <a:pPr/>
            <a:r>
              <a:t>Reference-grade monitoring stations are expensive, so most neighborhoods get little or no local data.</a:t>
            </a:r>
          </a:p>
        </p:txBody>
      </p:sp>
      <p:sp>
        <p:nvSpPr>
          <p:cNvPr id="42" name="Shape 5"/>
          <p:cNvSpPr/>
          <p:nvPr/>
        </p:nvSpPr>
        <p:spPr>
          <a:xfrm>
            <a:off x="4405808" y="2431355"/>
            <a:ext cx="3380334" cy="1916312"/>
          </a:xfrm>
          <a:prstGeom prst="roundRect">
            <a:avLst>
              <a:gd name="adj" fmla="val 5136"/>
            </a:avLst>
          </a:prstGeom>
          <a:solidFill>
            <a:srgbClr val="FBFAF5"/>
          </a:solidFill>
          <a:ln w="6350">
            <a:solidFill>
              <a:srgbClr val="DDD6C4"/>
            </a:solidFill>
          </a:ln>
        </p:spPr>
        <p:txBody>
          <a:bodyPr lIns="45719" rIns="45719"/>
          <a:lstStyle/>
          <a:p>
            <a:pPr>
              <a:defRPr>
                <a:solidFill>
                  <a:srgbClr val="F5F2E9"/>
                </a:solidFill>
              </a:defRPr>
            </a:pPr>
          </a:p>
        </p:txBody>
      </p:sp>
      <p:sp>
        <p:nvSpPr>
          <p:cNvPr id="43" name="Text 6"/>
          <p:cNvSpPr txBox="1"/>
          <p:nvPr/>
        </p:nvSpPr>
        <p:spPr>
          <a:xfrm>
            <a:off x="4662983" y="2688530"/>
            <a:ext cx="2951964"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400"/>
              </a:lnSpc>
              <a:defRPr b="1" sz="2000">
                <a:solidFill>
                  <a:srgbClr val="16302B"/>
                </a:solidFill>
              </a:defRPr>
            </a:lvl1pPr>
          </a:lstStyle>
          <a:p>
            <a:pPr/>
            <a:r>
              <a:t>Little shade in summer</a:t>
            </a:r>
          </a:p>
        </p:txBody>
      </p:sp>
      <p:sp>
        <p:nvSpPr>
          <p:cNvPr id="44" name="Text 7"/>
          <p:cNvSpPr txBox="1"/>
          <p:nvPr/>
        </p:nvSpPr>
        <p:spPr>
          <a:xfrm>
            <a:off x="4662983" y="3094930"/>
            <a:ext cx="2951964" cy="77207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900"/>
              </a:lnSpc>
              <a:defRPr sz="1400">
                <a:solidFill>
                  <a:schemeClr val="accent4"/>
                </a:solidFill>
              </a:defRPr>
            </a:lvl1pPr>
          </a:lstStyle>
          <a:p>
            <a:pPr/>
            <a:r>
              <a:t>Public spaces often lack shade, seating and a place to cool down during heat waves.</a:t>
            </a:r>
          </a:p>
        </p:txBody>
      </p:sp>
      <p:sp>
        <p:nvSpPr>
          <p:cNvPr id="45" name="Shape 8"/>
          <p:cNvSpPr/>
          <p:nvPr/>
        </p:nvSpPr>
        <p:spPr>
          <a:xfrm>
            <a:off x="7995691" y="2431355"/>
            <a:ext cx="3380334" cy="1916312"/>
          </a:xfrm>
          <a:prstGeom prst="roundRect">
            <a:avLst>
              <a:gd name="adj" fmla="val 5136"/>
            </a:avLst>
          </a:prstGeom>
          <a:solidFill>
            <a:srgbClr val="FBFAF5"/>
          </a:solidFill>
          <a:ln w="6350">
            <a:solidFill>
              <a:srgbClr val="DDD6C4"/>
            </a:solidFill>
          </a:ln>
        </p:spPr>
        <p:txBody>
          <a:bodyPr lIns="45719" rIns="45719"/>
          <a:lstStyle/>
          <a:p>
            <a:pPr>
              <a:defRPr>
                <a:solidFill>
                  <a:srgbClr val="F5F2E9"/>
                </a:solidFill>
              </a:defRPr>
            </a:pPr>
          </a:p>
        </p:txBody>
      </p:sp>
      <p:sp>
        <p:nvSpPr>
          <p:cNvPr id="46" name="Text 9"/>
          <p:cNvSpPr txBox="1"/>
          <p:nvPr/>
        </p:nvSpPr>
        <p:spPr>
          <a:xfrm>
            <a:off x="8252866" y="2688530"/>
            <a:ext cx="2951964"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400"/>
              </a:lnSpc>
              <a:defRPr b="1" sz="2000">
                <a:solidFill>
                  <a:srgbClr val="16302B"/>
                </a:solidFill>
              </a:defRPr>
            </a:lvl1pPr>
          </a:lstStyle>
          <a:p>
            <a:pPr/>
            <a:r>
              <a:t>No public power</a:t>
            </a:r>
          </a:p>
        </p:txBody>
      </p:sp>
      <p:sp>
        <p:nvSpPr>
          <p:cNvPr id="47" name="Text 10"/>
          <p:cNvSpPr txBox="1"/>
          <p:nvPr/>
        </p:nvSpPr>
        <p:spPr>
          <a:xfrm>
            <a:off x="8252866" y="3094930"/>
            <a:ext cx="2951964" cy="77207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900"/>
              </a:lnSpc>
              <a:defRPr sz="1400">
                <a:solidFill>
                  <a:schemeClr val="accent4"/>
                </a:solidFill>
              </a:defRPr>
            </a:lvl1pPr>
          </a:lstStyle>
          <a:p>
            <a:pPr/>
            <a:r>
              <a:t>People cannot charge a phone outdoors, and clean energy stays out of sight.</a:t>
            </a:r>
          </a:p>
        </p:txBody>
      </p:sp>
      <p:sp>
        <p:nvSpPr>
          <p:cNvPr id="48" name="Text 12"/>
          <p:cNvSpPr txBox="1"/>
          <p:nvPr/>
        </p:nvSpPr>
        <p:spPr>
          <a:xfrm>
            <a:off x="10058400" y="6238280"/>
            <a:ext cx="1320800"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gn="r">
              <a:lnSpc>
                <a:spcPts val="1600"/>
              </a:lnSpc>
              <a:defRPr sz="1200">
                <a:solidFill>
                  <a:schemeClr val="accent5"/>
                </a:solidFill>
              </a:defRPr>
            </a:lvl1pPr>
          </a:lstStyle>
          <a:p>
            <a:pPr/>
            <a:r>
              <a:t>02</a:t>
            </a:r>
          </a:p>
        </p:txBody>
      </p:sp>
      <p:pic>
        <p:nvPicPr>
          <p:cNvPr id="49" name="arbora-logo.svg" descr="arbora-logo.svg"/>
          <p:cNvPicPr>
            <a:picLocks noChangeAspect="1"/>
          </p:cNvPicPr>
          <p:nvPr/>
        </p:nvPicPr>
        <p:blipFill>
          <a:blip r:embed="rId3">
            <a:extLst/>
          </a:blip>
          <a:stretch>
            <a:fillRect/>
          </a:stretch>
        </p:blipFill>
        <p:spPr>
          <a:xfrm>
            <a:off x="631077" y="5778500"/>
            <a:ext cx="2082801" cy="874777"/>
          </a:xfrm>
          <a:prstGeom prst="rect">
            <a:avLst/>
          </a:prstGeom>
          <a:ln w="12700">
            <a:miter lim="400000"/>
          </a:ln>
        </p:spPr>
      </p:pic>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3" name="Text 0"/>
          <p:cNvSpPr txBox="1"/>
          <p:nvPr/>
        </p:nvSpPr>
        <p:spPr>
          <a:xfrm>
            <a:off x="812799" y="812800"/>
            <a:ext cx="10883394" cy="23872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pc="100" sz="1200">
                <a:solidFill>
                  <a:schemeClr val="accent1"/>
                </a:solidFill>
              </a:defRPr>
            </a:lvl1pPr>
          </a:lstStyle>
          <a:p>
            <a:pPr/>
            <a:r>
              <a:t>THE CONCEPT</a:t>
            </a:r>
          </a:p>
        </p:txBody>
      </p:sp>
      <p:sp>
        <p:nvSpPr>
          <p:cNvPr id="54" name="Text 1"/>
          <p:cNvSpPr txBox="1"/>
          <p:nvPr>
            <p:ph type="title"/>
          </p:nvPr>
        </p:nvSpPr>
        <p:spPr>
          <a:xfrm>
            <a:off x="812799" y="1280120"/>
            <a:ext cx="10883394" cy="472430"/>
          </a:xfrm>
          <a:prstGeom prst="rect">
            <a:avLst/>
          </a:prstGeom>
        </p:spPr>
        <p:txBody>
          <a:bodyPr/>
          <a:lstStyle>
            <a:lvl1pPr>
              <a:lnSpc>
                <a:spcPts val="3500"/>
              </a:lnSpc>
              <a:defRPr b="1"/>
            </a:lvl1pPr>
          </a:lstStyle>
          <a:p>
            <a:pPr/>
            <a:r>
              <a:t>One structure, four jobs</a:t>
            </a:r>
          </a:p>
        </p:txBody>
      </p:sp>
      <p:sp>
        <p:nvSpPr>
          <p:cNvPr id="55" name="Shape 2"/>
          <p:cNvSpPr/>
          <p:nvPr/>
        </p:nvSpPr>
        <p:spPr>
          <a:xfrm>
            <a:off x="815975" y="1984325"/>
            <a:ext cx="2520950" cy="1878261"/>
          </a:xfrm>
          <a:prstGeom prst="roundRect">
            <a:avLst>
              <a:gd name="adj" fmla="val 5240"/>
            </a:avLst>
          </a:prstGeom>
          <a:solidFill>
            <a:srgbClr val="173A34"/>
          </a:solidFill>
          <a:ln w="6350">
            <a:solidFill>
              <a:srgbClr val="2A5A52"/>
            </a:solidFill>
          </a:ln>
        </p:spPr>
        <p:txBody>
          <a:bodyPr lIns="45719" rIns="45719"/>
          <a:lstStyle/>
          <a:p>
            <a:pPr>
              <a:defRPr>
                <a:solidFill>
                  <a:srgbClr val="F5F2E9"/>
                </a:solidFill>
              </a:defRPr>
            </a:pPr>
          </a:p>
        </p:txBody>
      </p:sp>
      <p:sp>
        <p:nvSpPr>
          <p:cNvPr id="56" name="Text 3"/>
          <p:cNvSpPr txBox="1"/>
          <p:nvPr/>
        </p:nvSpPr>
        <p:spPr>
          <a:xfrm>
            <a:off x="1047749" y="2216100"/>
            <a:ext cx="2119124"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z="1200">
                <a:solidFill>
                  <a:schemeClr val="accent1"/>
                </a:solidFill>
              </a:defRPr>
            </a:lvl1pPr>
          </a:lstStyle>
          <a:p>
            <a:pPr/>
            <a:r>
              <a:t>01</a:t>
            </a:r>
          </a:p>
        </p:txBody>
      </p:sp>
      <p:sp>
        <p:nvSpPr>
          <p:cNvPr id="57" name="Text 4"/>
          <p:cNvSpPr txBox="1"/>
          <p:nvPr/>
        </p:nvSpPr>
        <p:spPr>
          <a:xfrm>
            <a:off x="1047749" y="2531021"/>
            <a:ext cx="2119124"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400"/>
              </a:lnSpc>
              <a:defRPr b="1" sz="2000">
                <a:solidFill>
                  <a:srgbClr val="F5F2E9"/>
                </a:solidFill>
              </a:defRPr>
            </a:lvl1pPr>
          </a:lstStyle>
          <a:p>
            <a:pPr/>
            <a:r>
              <a:t>Generate</a:t>
            </a:r>
          </a:p>
        </p:txBody>
      </p:sp>
      <p:sp>
        <p:nvSpPr>
          <p:cNvPr id="58" name="Text 5"/>
          <p:cNvSpPr txBox="1"/>
          <p:nvPr/>
        </p:nvSpPr>
        <p:spPr>
          <a:xfrm>
            <a:off x="1047749" y="2937421"/>
            <a:ext cx="2119124" cy="71879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rgbClr val="CFE0DA"/>
                </a:solidFill>
              </a:defRPr>
            </a:lvl1pPr>
          </a:lstStyle>
          <a:p>
            <a:pPr/>
            <a:r>
              <a:t>Solar canopy of about 1 kWp, with a battery for night use.</a:t>
            </a:r>
          </a:p>
        </p:txBody>
      </p:sp>
      <p:sp>
        <p:nvSpPr>
          <p:cNvPr id="59" name="Shape 6"/>
          <p:cNvSpPr/>
          <p:nvPr/>
        </p:nvSpPr>
        <p:spPr>
          <a:xfrm>
            <a:off x="3495675" y="1984325"/>
            <a:ext cx="2520950" cy="1878261"/>
          </a:xfrm>
          <a:prstGeom prst="roundRect">
            <a:avLst>
              <a:gd name="adj" fmla="val 5240"/>
            </a:avLst>
          </a:prstGeom>
          <a:solidFill>
            <a:srgbClr val="173A34"/>
          </a:solidFill>
          <a:ln w="6350">
            <a:solidFill>
              <a:srgbClr val="2A5A52"/>
            </a:solidFill>
          </a:ln>
        </p:spPr>
        <p:txBody>
          <a:bodyPr lIns="45719" rIns="45719"/>
          <a:lstStyle/>
          <a:p>
            <a:pPr>
              <a:defRPr>
                <a:solidFill>
                  <a:srgbClr val="F5F2E9"/>
                </a:solidFill>
              </a:defRPr>
            </a:pPr>
          </a:p>
        </p:txBody>
      </p:sp>
      <p:sp>
        <p:nvSpPr>
          <p:cNvPr id="60" name="Text 7"/>
          <p:cNvSpPr txBox="1"/>
          <p:nvPr/>
        </p:nvSpPr>
        <p:spPr>
          <a:xfrm>
            <a:off x="3727449" y="2216100"/>
            <a:ext cx="2119124"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z="1200">
                <a:solidFill>
                  <a:schemeClr val="accent1"/>
                </a:solidFill>
              </a:defRPr>
            </a:lvl1pPr>
          </a:lstStyle>
          <a:p>
            <a:pPr/>
            <a:r>
              <a:t>02</a:t>
            </a:r>
          </a:p>
        </p:txBody>
      </p:sp>
      <p:sp>
        <p:nvSpPr>
          <p:cNvPr id="61" name="Text 8"/>
          <p:cNvSpPr txBox="1"/>
          <p:nvPr/>
        </p:nvSpPr>
        <p:spPr>
          <a:xfrm>
            <a:off x="3727449" y="2531021"/>
            <a:ext cx="2119124"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400"/>
              </a:lnSpc>
              <a:defRPr b="1" sz="2000">
                <a:solidFill>
                  <a:srgbClr val="F5F2E9"/>
                </a:solidFill>
              </a:defRPr>
            </a:lvl1pPr>
          </a:lstStyle>
          <a:p>
            <a:pPr/>
            <a:r>
              <a:t>Measure</a:t>
            </a:r>
          </a:p>
        </p:txBody>
      </p:sp>
      <p:sp>
        <p:nvSpPr>
          <p:cNvPr id="62" name="Text 9"/>
          <p:cNvSpPr txBox="1"/>
          <p:nvPr/>
        </p:nvSpPr>
        <p:spPr>
          <a:xfrm>
            <a:off x="3727449" y="2937421"/>
            <a:ext cx="2119124" cy="71879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rgbClr val="CFE0DA"/>
                </a:solidFill>
              </a:defRPr>
            </a:lvl1pPr>
          </a:lstStyle>
          <a:p>
            <a:pPr/>
            <a:r>
              <a:t>PM2.5, PM10, CO₂, temperature and humidity, shown live.</a:t>
            </a:r>
          </a:p>
        </p:txBody>
      </p:sp>
      <p:sp>
        <p:nvSpPr>
          <p:cNvPr id="63" name="Shape 10"/>
          <p:cNvSpPr/>
          <p:nvPr/>
        </p:nvSpPr>
        <p:spPr>
          <a:xfrm>
            <a:off x="6175375" y="1984325"/>
            <a:ext cx="2520950" cy="1878261"/>
          </a:xfrm>
          <a:prstGeom prst="roundRect">
            <a:avLst>
              <a:gd name="adj" fmla="val 5240"/>
            </a:avLst>
          </a:prstGeom>
          <a:solidFill>
            <a:srgbClr val="173A34"/>
          </a:solidFill>
          <a:ln w="6350">
            <a:solidFill>
              <a:srgbClr val="2A5A52"/>
            </a:solidFill>
          </a:ln>
        </p:spPr>
        <p:txBody>
          <a:bodyPr lIns="45719" rIns="45719"/>
          <a:lstStyle/>
          <a:p>
            <a:pPr>
              <a:defRPr>
                <a:solidFill>
                  <a:srgbClr val="F5F2E9"/>
                </a:solidFill>
              </a:defRPr>
            </a:pPr>
          </a:p>
        </p:txBody>
      </p:sp>
      <p:sp>
        <p:nvSpPr>
          <p:cNvPr id="64" name="Text 11"/>
          <p:cNvSpPr txBox="1"/>
          <p:nvPr/>
        </p:nvSpPr>
        <p:spPr>
          <a:xfrm>
            <a:off x="6407149" y="2216100"/>
            <a:ext cx="2119124"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z="1200">
                <a:solidFill>
                  <a:schemeClr val="accent1"/>
                </a:solidFill>
              </a:defRPr>
            </a:lvl1pPr>
          </a:lstStyle>
          <a:p>
            <a:pPr/>
            <a:r>
              <a:t>03</a:t>
            </a:r>
          </a:p>
        </p:txBody>
      </p:sp>
      <p:sp>
        <p:nvSpPr>
          <p:cNvPr id="65" name="Text 12"/>
          <p:cNvSpPr txBox="1"/>
          <p:nvPr/>
        </p:nvSpPr>
        <p:spPr>
          <a:xfrm>
            <a:off x="6407149" y="2531021"/>
            <a:ext cx="2119124"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400"/>
              </a:lnSpc>
              <a:defRPr b="1" sz="2000">
                <a:solidFill>
                  <a:srgbClr val="F5F2E9"/>
                </a:solidFill>
              </a:defRPr>
            </a:lvl1pPr>
          </a:lstStyle>
          <a:p>
            <a:pPr/>
            <a:r>
              <a:t>Remove</a:t>
            </a:r>
          </a:p>
        </p:txBody>
      </p:sp>
      <p:sp>
        <p:nvSpPr>
          <p:cNvPr id="66" name="Text 13"/>
          <p:cNvSpPr txBox="1"/>
          <p:nvPr/>
        </p:nvSpPr>
        <p:spPr>
          <a:xfrm>
            <a:off x="6407149" y="2937421"/>
            <a:ext cx="2119124" cy="71879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rgbClr val="CFE0DA"/>
                </a:solidFill>
              </a:defRPr>
            </a:lvl1pPr>
          </a:lstStyle>
          <a:p>
            <a:pPr/>
            <a:r>
              <a:t>An algae bioreactor and plants take in CO₂ and release oxygen.</a:t>
            </a:r>
          </a:p>
        </p:txBody>
      </p:sp>
      <p:sp>
        <p:nvSpPr>
          <p:cNvPr id="67" name="Shape 14"/>
          <p:cNvSpPr/>
          <p:nvPr/>
        </p:nvSpPr>
        <p:spPr>
          <a:xfrm>
            <a:off x="8855075" y="1984325"/>
            <a:ext cx="2520950" cy="1878261"/>
          </a:xfrm>
          <a:prstGeom prst="roundRect">
            <a:avLst>
              <a:gd name="adj" fmla="val 5240"/>
            </a:avLst>
          </a:prstGeom>
          <a:solidFill>
            <a:srgbClr val="173A34"/>
          </a:solidFill>
          <a:ln w="6350">
            <a:solidFill>
              <a:srgbClr val="2A5A52"/>
            </a:solidFill>
          </a:ln>
        </p:spPr>
        <p:txBody>
          <a:bodyPr lIns="45719" rIns="45719"/>
          <a:lstStyle/>
          <a:p>
            <a:pPr>
              <a:defRPr>
                <a:solidFill>
                  <a:srgbClr val="F5F2E9"/>
                </a:solidFill>
              </a:defRPr>
            </a:pPr>
          </a:p>
        </p:txBody>
      </p:sp>
      <p:sp>
        <p:nvSpPr>
          <p:cNvPr id="68" name="Text 15"/>
          <p:cNvSpPr txBox="1"/>
          <p:nvPr/>
        </p:nvSpPr>
        <p:spPr>
          <a:xfrm>
            <a:off x="9086849" y="2216100"/>
            <a:ext cx="2119124"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z="1200">
                <a:solidFill>
                  <a:schemeClr val="accent1"/>
                </a:solidFill>
              </a:defRPr>
            </a:lvl1pPr>
          </a:lstStyle>
          <a:p>
            <a:pPr/>
            <a:r>
              <a:t>04</a:t>
            </a:r>
          </a:p>
        </p:txBody>
      </p:sp>
      <p:sp>
        <p:nvSpPr>
          <p:cNvPr id="69" name="Text 16"/>
          <p:cNvSpPr txBox="1"/>
          <p:nvPr/>
        </p:nvSpPr>
        <p:spPr>
          <a:xfrm>
            <a:off x="9086849" y="2531021"/>
            <a:ext cx="2119124"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400"/>
              </a:lnSpc>
              <a:defRPr b="1" sz="2000">
                <a:solidFill>
                  <a:srgbClr val="F5F2E9"/>
                </a:solidFill>
              </a:defRPr>
            </a:lvl1pPr>
          </a:lstStyle>
          <a:p>
            <a:pPr/>
            <a:r>
              <a:t>Serve</a:t>
            </a:r>
          </a:p>
        </p:txBody>
      </p:sp>
      <p:sp>
        <p:nvSpPr>
          <p:cNvPr id="70" name="Text 17"/>
          <p:cNvSpPr txBox="1"/>
          <p:nvPr/>
        </p:nvSpPr>
        <p:spPr>
          <a:xfrm>
            <a:off x="9086849" y="2937421"/>
            <a:ext cx="2119124" cy="71879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rgbClr val="CFE0DA"/>
                </a:solidFill>
              </a:defRPr>
            </a:lvl1pPr>
          </a:lstStyle>
          <a:p>
            <a:pPr/>
            <a:r>
              <a:t>Shade, rain cover and benches with USB-C charging.</a:t>
            </a:r>
          </a:p>
        </p:txBody>
      </p:sp>
      <p:sp>
        <p:nvSpPr>
          <p:cNvPr id="71" name="Text 18"/>
          <p:cNvSpPr txBox="1"/>
          <p:nvPr/>
        </p:nvSpPr>
        <p:spPr>
          <a:xfrm>
            <a:off x="812800" y="4119760"/>
            <a:ext cx="9156700" cy="2921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100"/>
              </a:lnSpc>
              <a:defRPr sz="1500">
                <a:solidFill>
                  <a:schemeClr val="accent6"/>
                </a:solidFill>
              </a:defRPr>
            </a:lvl1pPr>
          </a:lstStyle>
          <a:p>
            <a:pPr/>
            <a:r>
              <a:t>Later versions add advanced CO₂ conversion, cooling zones and day and night forms.</a:t>
            </a:r>
          </a:p>
        </p:txBody>
      </p:sp>
      <p:sp>
        <p:nvSpPr>
          <p:cNvPr id="72" name="Text 19"/>
          <p:cNvSpPr txBox="1"/>
          <p:nvPr/>
        </p:nvSpPr>
        <p:spPr>
          <a:xfrm>
            <a:off x="812800" y="6238280"/>
            <a:ext cx="5232400"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sz="1200">
                <a:solidFill>
                  <a:schemeClr val="accent6"/>
                </a:solidFill>
              </a:defRPr>
            </a:lvl1pPr>
          </a:lstStyle>
          <a:p>
            <a:pPr/>
            <a:r>
              <a:t>Arbora · Smart solar tree</a:t>
            </a:r>
          </a:p>
        </p:txBody>
      </p:sp>
      <p:sp>
        <p:nvSpPr>
          <p:cNvPr id="73" name="Text 20"/>
          <p:cNvSpPr txBox="1"/>
          <p:nvPr/>
        </p:nvSpPr>
        <p:spPr>
          <a:xfrm>
            <a:off x="10058400" y="6238280"/>
            <a:ext cx="1320800"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gn="r">
              <a:lnSpc>
                <a:spcPts val="1600"/>
              </a:lnSpc>
              <a:defRPr sz="1200">
                <a:solidFill>
                  <a:schemeClr val="accent6"/>
                </a:solidFill>
              </a:defRPr>
            </a:lvl1pPr>
          </a:lstStyle>
          <a:p>
            <a:pPr/>
            <a:r>
              <a:t>03</a:t>
            </a:r>
          </a:p>
        </p:txBody>
      </p:sp>
      <p:pic>
        <p:nvPicPr>
          <p:cNvPr id="74" name="pasted-movie.png" descr="pasted-movie.png"/>
          <p:cNvPicPr>
            <a:picLocks noChangeAspect="1"/>
          </p:cNvPicPr>
          <p:nvPr/>
        </p:nvPicPr>
        <p:blipFill>
          <a:blip r:embed="rId3">
            <a:extLst/>
          </a:blip>
          <a:stretch>
            <a:fillRect/>
          </a:stretch>
        </p:blipFill>
        <p:spPr>
          <a:xfrm>
            <a:off x="633485" y="5773850"/>
            <a:ext cx="2096335" cy="880461"/>
          </a:xfrm>
          <a:prstGeom prst="rect">
            <a:avLst/>
          </a:prstGeom>
          <a:ln w="12700">
            <a:miter lim="400000"/>
          </a:ln>
        </p:spPr>
      </p:pic>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5F2E9"/>
        </a:solidFill>
      </p:bgPr>
    </p:bg>
    <p:spTree>
      <p:nvGrpSpPr>
        <p:cNvPr id="1" name=""/>
        <p:cNvGrpSpPr/>
        <p:nvPr/>
      </p:nvGrpSpPr>
      <p:grpSpPr>
        <a:xfrm>
          <a:off x="0" y="0"/>
          <a:ext cx="0" cy="0"/>
          <a:chOff x="0" y="0"/>
          <a:chExt cx="0" cy="0"/>
        </a:xfrm>
      </p:grpSpPr>
      <p:sp>
        <p:nvSpPr>
          <p:cNvPr id="78" name="Text 0"/>
          <p:cNvSpPr txBox="1"/>
          <p:nvPr>
            <p:ph type="title"/>
          </p:nvPr>
        </p:nvSpPr>
        <p:spPr>
          <a:xfrm>
            <a:off x="812799" y="812799"/>
            <a:ext cx="10883394" cy="472431"/>
          </a:xfrm>
          <a:prstGeom prst="rect">
            <a:avLst/>
          </a:prstGeom>
        </p:spPr>
        <p:txBody>
          <a:bodyPr/>
          <a:lstStyle>
            <a:lvl1pPr>
              <a:lnSpc>
                <a:spcPts val="3500"/>
              </a:lnSpc>
              <a:defRPr b="1">
                <a:solidFill>
                  <a:srgbClr val="16302B"/>
                </a:solidFill>
              </a:defRPr>
            </a:lvl1pPr>
          </a:lstStyle>
          <a:p>
            <a:pPr/>
            <a:r>
              <a:t>The MVP: a 3 m solar tree</a:t>
            </a:r>
          </a:p>
        </p:txBody>
      </p:sp>
      <p:pic>
        <p:nvPicPr>
          <p:cNvPr id="79" name="Image 0" descr="Image 0"/>
          <p:cNvPicPr>
            <a:picLocks noChangeAspect="1"/>
          </p:cNvPicPr>
          <p:nvPr/>
        </p:nvPicPr>
        <p:blipFill>
          <a:blip r:embed="rId3">
            <a:extLst/>
          </a:blip>
          <a:stretch>
            <a:fillRect/>
          </a:stretch>
        </p:blipFill>
        <p:spPr>
          <a:xfrm>
            <a:off x="812800" y="1463029"/>
            <a:ext cx="4826000" cy="4064001"/>
          </a:xfrm>
          <a:prstGeom prst="rect">
            <a:avLst/>
          </a:prstGeom>
          <a:ln w="12700">
            <a:miter lim="400000"/>
          </a:ln>
        </p:spPr>
      </p:pic>
      <p:sp>
        <p:nvSpPr>
          <p:cNvPr id="80" name="Text 1"/>
          <p:cNvSpPr txBox="1"/>
          <p:nvPr/>
        </p:nvSpPr>
        <p:spPr>
          <a:xfrm>
            <a:off x="1721484" y="1551929"/>
            <a:ext cx="3008632" cy="25653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gn="ctr">
              <a:lnSpc>
                <a:spcPts val="1800"/>
              </a:lnSpc>
              <a:defRPr b="1" sz="1300">
                <a:solidFill>
                  <a:srgbClr val="16302B"/>
                </a:solidFill>
              </a:defRPr>
            </a:lvl1pPr>
          </a:lstStyle>
          <a:p>
            <a:pPr/>
            <a:r>
              <a:t>Solar canopy, ~1 kWp</a:t>
            </a:r>
          </a:p>
        </p:txBody>
      </p:sp>
      <p:sp>
        <p:nvSpPr>
          <p:cNvPr id="81" name="Text 2"/>
          <p:cNvSpPr txBox="1"/>
          <p:nvPr/>
        </p:nvSpPr>
        <p:spPr>
          <a:xfrm>
            <a:off x="3860800" y="2479030"/>
            <a:ext cx="1701800" cy="25653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rgbClr val="16302B"/>
                </a:solidFill>
              </a:defRPr>
            </a:lvl1pPr>
          </a:lstStyle>
          <a:p>
            <a:pPr/>
            <a:r>
              <a:t>Air sensors</a:t>
            </a:r>
          </a:p>
        </p:txBody>
      </p:sp>
      <p:sp>
        <p:nvSpPr>
          <p:cNvPr id="82" name="Text 3"/>
          <p:cNvSpPr txBox="1"/>
          <p:nvPr/>
        </p:nvSpPr>
        <p:spPr>
          <a:xfrm>
            <a:off x="3860800" y="3063230"/>
            <a:ext cx="1701800" cy="25653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rgbClr val="16302B"/>
                </a:solidFill>
              </a:defRPr>
            </a:lvl1pPr>
          </a:lstStyle>
          <a:p>
            <a:pPr/>
            <a:r>
              <a:t>Battery</a:t>
            </a:r>
          </a:p>
        </p:txBody>
      </p:sp>
      <p:sp>
        <p:nvSpPr>
          <p:cNvPr id="83" name="Text 4"/>
          <p:cNvSpPr txBox="1"/>
          <p:nvPr/>
        </p:nvSpPr>
        <p:spPr>
          <a:xfrm>
            <a:off x="3860800" y="4060180"/>
            <a:ext cx="1701800" cy="25653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rgbClr val="16302B"/>
                </a:solidFill>
              </a:defRPr>
            </a:lvl1pPr>
          </a:lstStyle>
          <a:p>
            <a:pPr/>
            <a:r>
              <a:t>Algae reactor</a:t>
            </a:r>
          </a:p>
        </p:txBody>
      </p:sp>
      <p:sp>
        <p:nvSpPr>
          <p:cNvPr id="84" name="Text 5"/>
          <p:cNvSpPr txBox="1"/>
          <p:nvPr/>
        </p:nvSpPr>
        <p:spPr>
          <a:xfrm>
            <a:off x="1459864" y="5107930"/>
            <a:ext cx="3531871" cy="25653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gn="ctr">
              <a:lnSpc>
                <a:spcPts val="1800"/>
              </a:lnSpc>
              <a:defRPr b="1" sz="1300">
                <a:solidFill>
                  <a:srgbClr val="16302B"/>
                </a:solidFill>
              </a:defRPr>
            </a:lvl1pPr>
          </a:lstStyle>
          <a:p>
            <a:pPr/>
            <a:r>
              <a:t>Benches with USB-C charging</a:t>
            </a:r>
          </a:p>
        </p:txBody>
      </p:sp>
      <p:sp>
        <p:nvSpPr>
          <p:cNvPr id="85" name="Shape 6"/>
          <p:cNvSpPr/>
          <p:nvPr/>
        </p:nvSpPr>
        <p:spPr>
          <a:xfrm>
            <a:off x="6045200" y="1707603"/>
            <a:ext cx="5334001" cy="1"/>
          </a:xfrm>
          <a:prstGeom prst="line">
            <a:avLst/>
          </a:prstGeom>
          <a:ln w="6350">
            <a:solidFill>
              <a:srgbClr val="DDD6C4"/>
            </a:solidFill>
          </a:ln>
        </p:spPr>
        <p:txBody>
          <a:bodyPr lIns="45719" rIns="45719"/>
          <a:lstStyle/>
          <a:p>
            <a:pPr>
              <a:defRPr>
                <a:solidFill>
                  <a:srgbClr val="F5F2E9"/>
                </a:solidFill>
              </a:defRPr>
            </a:pPr>
          </a:p>
        </p:txBody>
      </p:sp>
      <p:sp>
        <p:nvSpPr>
          <p:cNvPr id="86" name="Text 7"/>
          <p:cNvSpPr txBox="1"/>
          <p:nvPr/>
        </p:nvSpPr>
        <p:spPr>
          <a:xfrm>
            <a:off x="6045199" y="1837778"/>
            <a:ext cx="5494022" cy="4165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3000"/>
              </a:lnSpc>
              <a:defRPr b="1" sz="2800">
                <a:solidFill>
                  <a:srgbClr val="16302B"/>
                </a:solidFill>
              </a:defRPr>
            </a:lvl1pPr>
          </a:lstStyle>
          <a:p>
            <a:pPr/>
            <a:r>
              <a:t>~3 m</a:t>
            </a:r>
          </a:p>
        </p:txBody>
      </p:sp>
      <p:sp>
        <p:nvSpPr>
          <p:cNvPr id="87" name="Text 8"/>
          <p:cNvSpPr txBox="1"/>
          <p:nvPr/>
        </p:nvSpPr>
        <p:spPr>
          <a:xfrm>
            <a:off x="6045199" y="2254299"/>
            <a:ext cx="5494022" cy="25653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chemeClr val="accent4"/>
                </a:solidFill>
              </a:defRPr>
            </a:lvl1pPr>
          </a:lstStyle>
          <a:p>
            <a:pPr/>
            <a:r>
              <a:t>Tall, with a ~3 m solar canopy</a:t>
            </a:r>
          </a:p>
        </p:txBody>
      </p:sp>
      <p:sp>
        <p:nvSpPr>
          <p:cNvPr id="88" name="Shape 9"/>
          <p:cNvSpPr/>
          <p:nvPr/>
        </p:nvSpPr>
        <p:spPr>
          <a:xfrm>
            <a:off x="6045200" y="2641005"/>
            <a:ext cx="5334001" cy="1"/>
          </a:xfrm>
          <a:prstGeom prst="line">
            <a:avLst/>
          </a:prstGeom>
          <a:ln w="6350">
            <a:solidFill>
              <a:srgbClr val="DDD6C4"/>
            </a:solidFill>
          </a:ln>
        </p:spPr>
        <p:txBody>
          <a:bodyPr lIns="45719" rIns="45719"/>
          <a:lstStyle/>
          <a:p>
            <a:pPr>
              <a:defRPr>
                <a:solidFill>
                  <a:srgbClr val="F5F2E9"/>
                </a:solidFill>
              </a:defRPr>
            </a:pPr>
          </a:p>
        </p:txBody>
      </p:sp>
      <p:sp>
        <p:nvSpPr>
          <p:cNvPr id="89" name="Text 10"/>
          <p:cNvSpPr txBox="1"/>
          <p:nvPr/>
        </p:nvSpPr>
        <p:spPr>
          <a:xfrm>
            <a:off x="6045199" y="2771180"/>
            <a:ext cx="5494022" cy="4165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3000"/>
              </a:lnSpc>
              <a:defRPr b="1" sz="2800">
                <a:solidFill>
                  <a:srgbClr val="16302B"/>
                </a:solidFill>
              </a:defRPr>
            </a:lvl1pPr>
          </a:lstStyle>
          <a:p>
            <a:pPr/>
            <a:r>
              <a:t>1 kWp + 2 kWh</a:t>
            </a:r>
          </a:p>
        </p:txBody>
      </p:sp>
      <p:sp>
        <p:nvSpPr>
          <p:cNvPr id="90" name="Text 11"/>
          <p:cNvSpPr txBox="1"/>
          <p:nvPr/>
        </p:nvSpPr>
        <p:spPr>
          <a:xfrm>
            <a:off x="6045199" y="3187699"/>
            <a:ext cx="5494022" cy="25653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chemeClr val="accent4"/>
                </a:solidFill>
              </a:defRPr>
            </a:lvl1pPr>
          </a:lstStyle>
          <a:p>
            <a:pPr/>
            <a:r>
              <a:t>Solar panels and battery in the trunk</a:t>
            </a:r>
          </a:p>
        </p:txBody>
      </p:sp>
      <p:sp>
        <p:nvSpPr>
          <p:cNvPr id="91" name="Shape 12"/>
          <p:cNvSpPr/>
          <p:nvPr/>
        </p:nvSpPr>
        <p:spPr>
          <a:xfrm>
            <a:off x="6045200" y="3574405"/>
            <a:ext cx="5334001" cy="1"/>
          </a:xfrm>
          <a:prstGeom prst="line">
            <a:avLst/>
          </a:prstGeom>
          <a:ln w="6350">
            <a:solidFill>
              <a:srgbClr val="DDD6C4"/>
            </a:solidFill>
          </a:ln>
        </p:spPr>
        <p:txBody>
          <a:bodyPr lIns="45719" rIns="45719"/>
          <a:lstStyle/>
          <a:p>
            <a:pPr>
              <a:defRPr>
                <a:solidFill>
                  <a:srgbClr val="F5F2E9"/>
                </a:solidFill>
              </a:defRPr>
            </a:pPr>
          </a:p>
        </p:txBody>
      </p:sp>
      <p:sp>
        <p:nvSpPr>
          <p:cNvPr id="92" name="Text 13"/>
          <p:cNvSpPr txBox="1"/>
          <p:nvPr/>
        </p:nvSpPr>
        <p:spPr>
          <a:xfrm>
            <a:off x="6045199" y="3704580"/>
            <a:ext cx="5494022" cy="4165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3000"/>
              </a:lnSpc>
              <a:defRPr b="1" sz="2800">
                <a:solidFill>
                  <a:srgbClr val="16302B"/>
                </a:solidFill>
              </a:defRPr>
            </a:lvl1pPr>
          </a:lstStyle>
          <a:p>
            <a:pPr/>
            <a:r>
              <a:t>100–200 L</a:t>
            </a:r>
          </a:p>
        </p:txBody>
      </p:sp>
      <p:sp>
        <p:nvSpPr>
          <p:cNvPr id="93" name="Text 14"/>
          <p:cNvSpPr txBox="1"/>
          <p:nvPr/>
        </p:nvSpPr>
        <p:spPr>
          <a:xfrm>
            <a:off x="6045199" y="4121100"/>
            <a:ext cx="5494022" cy="25653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chemeClr val="accent4"/>
                </a:solidFill>
              </a:defRPr>
            </a:lvl1pPr>
          </a:lstStyle>
          <a:p>
            <a:pPr/>
            <a:r>
              <a:t>Algae bioreactor, plus plants and moss</a:t>
            </a:r>
          </a:p>
        </p:txBody>
      </p:sp>
      <p:sp>
        <p:nvSpPr>
          <p:cNvPr id="94" name="Shape 15"/>
          <p:cNvSpPr/>
          <p:nvPr/>
        </p:nvSpPr>
        <p:spPr>
          <a:xfrm>
            <a:off x="6045200" y="4507805"/>
            <a:ext cx="5334001" cy="1"/>
          </a:xfrm>
          <a:prstGeom prst="line">
            <a:avLst/>
          </a:prstGeom>
          <a:ln w="6350">
            <a:solidFill>
              <a:srgbClr val="DDD6C4"/>
            </a:solidFill>
          </a:ln>
        </p:spPr>
        <p:txBody>
          <a:bodyPr lIns="45719" rIns="45719"/>
          <a:lstStyle/>
          <a:p>
            <a:pPr>
              <a:defRPr>
                <a:solidFill>
                  <a:srgbClr val="F5F2E9"/>
                </a:solidFill>
              </a:defRPr>
            </a:pPr>
          </a:p>
        </p:txBody>
      </p:sp>
      <p:sp>
        <p:nvSpPr>
          <p:cNvPr id="95" name="Text 16"/>
          <p:cNvSpPr txBox="1"/>
          <p:nvPr/>
        </p:nvSpPr>
        <p:spPr>
          <a:xfrm>
            <a:off x="6045199" y="4637980"/>
            <a:ext cx="5494022" cy="4165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3000"/>
              </a:lnSpc>
              <a:defRPr b="1" sz="2800">
                <a:solidFill>
                  <a:srgbClr val="16302B"/>
                </a:solidFill>
              </a:defRPr>
            </a:lvl1pPr>
          </a:lstStyle>
          <a:p>
            <a:pPr/>
            <a:r>
              <a:t>$2.4–5.6k</a:t>
            </a:r>
          </a:p>
        </p:txBody>
      </p:sp>
      <p:sp>
        <p:nvSpPr>
          <p:cNvPr id="96" name="Text 17"/>
          <p:cNvSpPr txBox="1"/>
          <p:nvPr/>
        </p:nvSpPr>
        <p:spPr>
          <a:xfrm>
            <a:off x="6045199" y="5054501"/>
            <a:ext cx="5494022" cy="25653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chemeClr val="accent4"/>
                </a:solidFill>
              </a:defRPr>
            </a:lvl1pPr>
          </a:lstStyle>
          <a:p>
            <a:pPr/>
            <a:r>
              <a:t>DIY hardware cost for the first prototype</a:t>
            </a:r>
          </a:p>
        </p:txBody>
      </p:sp>
      <p:sp>
        <p:nvSpPr>
          <p:cNvPr id="97" name="Text 19"/>
          <p:cNvSpPr txBox="1"/>
          <p:nvPr/>
        </p:nvSpPr>
        <p:spPr>
          <a:xfrm>
            <a:off x="10058400" y="6238280"/>
            <a:ext cx="1320800"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gn="r">
              <a:lnSpc>
                <a:spcPts val="1600"/>
              </a:lnSpc>
              <a:defRPr sz="1200">
                <a:solidFill>
                  <a:schemeClr val="accent5"/>
                </a:solidFill>
              </a:defRPr>
            </a:lvl1pPr>
          </a:lstStyle>
          <a:p>
            <a:pPr/>
            <a:r>
              <a:t>04</a:t>
            </a:r>
          </a:p>
        </p:txBody>
      </p:sp>
      <p:pic>
        <p:nvPicPr>
          <p:cNvPr id="98" name="arbora-logo.svg" descr="arbora-logo.svg"/>
          <p:cNvPicPr>
            <a:picLocks noChangeAspect="1"/>
          </p:cNvPicPr>
          <p:nvPr/>
        </p:nvPicPr>
        <p:blipFill>
          <a:blip r:embed="rId4">
            <a:extLst/>
          </a:blip>
          <a:stretch>
            <a:fillRect/>
          </a:stretch>
        </p:blipFill>
        <p:spPr>
          <a:xfrm>
            <a:off x="631077" y="5778500"/>
            <a:ext cx="2082801" cy="874777"/>
          </a:xfrm>
          <a:prstGeom prst="rect">
            <a:avLst/>
          </a:prstGeom>
          <a:ln w="12700">
            <a:miter lim="400000"/>
          </a:ln>
        </p:spPr>
      </p:pic>
      <p:pic>
        <p:nvPicPr>
          <p:cNvPr id="99" name="Gemini_Generated_Image_2ypba2ypba2ypba2.png" descr="Gemini_Generated_Image_2ypba2ypba2ypba2.png"/>
          <p:cNvPicPr>
            <a:picLocks noChangeAspect="1"/>
          </p:cNvPicPr>
          <p:nvPr/>
        </p:nvPicPr>
        <p:blipFill>
          <a:blip r:embed="rId5">
            <a:extLst/>
          </a:blip>
          <a:srcRect l="0" t="0" r="49967" b="7592"/>
          <a:stretch>
            <a:fillRect/>
          </a:stretch>
        </p:blipFill>
        <p:spPr>
          <a:xfrm>
            <a:off x="1048127" y="1301275"/>
            <a:ext cx="4355286" cy="4387620"/>
          </a:xfrm>
          <a:prstGeom prst="rect">
            <a:avLst/>
          </a:prstGeom>
          <a:ln w="12700">
            <a:miter lim="400000"/>
          </a:ln>
        </p:spPr>
      </p:pic>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EAE5D6"/>
        </a:solidFill>
      </p:bgPr>
    </p:bg>
    <p:spTree>
      <p:nvGrpSpPr>
        <p:cNvPr id="1" name=""/>
        <p:cNvGrpSpPr/>
        <p:nvPr/>
      </p:nvGrpSpPr>
      <p:grpSpPr>
        <a:xfrm>
          <a:off x="0" y="0"/>
          <a:ext cx="0" cy="0"/>
          <a:chOff x="0" y="0"/>
          <a:chExt cx="0" cy="0"/>
        </a:xfrm>
      </p:grpSpPr>
      <p:sp>
        <p:nvSpPr>
          <p:cNvPr id="103" name="Text 0"/>
          <p:cNvSpPr txBox="1"/>
          <p:nvPr/>
        </p:nvSpPr>
        <p:spPr>
          <a:xfrm>
            <a:off x="812799" y="812800"/>
            <a:ext cx="10883394" cy="23872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pc="100" sz="1200">
                <a:solidFill>
                  <a:schemeClr val="accent2"/>
                </a:solidFill>
              </a:defRPr>
            </a:lvl1pPr>
          </a:lstStyle>
          <a:p>
            <a:pPr/>
            <a:r>
              <a:t>HOW IT WORKS</a:t>
            </a:r>
          </a:p>
        </p:txBody>
      </p:sp>
      <p:sp>
        <p:nvSpPr>
          <p:cNvPr id="104" name="Text 1"/>
          <p:cNvSpPr txBox="1"/>
          <p:nvPr>
            <p:ph type="title"/>
          </p:nvPr>
        </p:nvSpPr>
        <p:spPr>
          <a:xfrm>
            <a:off x="812799" y="1280120"/>
            <a:ext cx="10883394" cy="472430"/>
          </a:xfrm>
          <a:prstGeom prst="rect">
            <a:avLst/>
          </a:prstGeom>
        </p:spPr>
        <p:txBody>
          <a:bodyPr/>
          <a:lstStyle>
            <a:lvl1pPr>
              <a:lnSpc>
                <a:spcPts val="3500"/>
              </a:lnSpc>
              <a:defRPr b="1">
                <a:solidFill>
                  <a:srgbClr val="16302B"/>
                </a:solidFill>
              </a:defRPr>
            </a:lvl1pPr>
          </a:lstStyle>
          <a:p>
            <a:pPr/>
            <a:r>
              <a:t>How the tree removes CO₂</a:t>
            </a:r>
          </a:p>
        </p:txBody>
      </p:sp>
      <p:sp>
        <p:nvSpPr>
          <p:cNvPr id="105" name="Shape 2"/>
          <p:cNvSpPr/>
          <p:nvPr/>
        </p:nvSpPr>
        <p:spPr>
          <a:xfrm>
            <a:off x="815975" y="1984325"/>
            <a:ext cx="3007767" cy="1583630"/>
          </a:xfrm>
          <a:prstGeom prst="roundRect">
            <a:avLst>
              <a:gd name="adj" fmla="val 6215"/>
            </a:avLst>
          </a:prstGeom>
          <a:solidFill>
            <a:srgbClr val="FBFAF5"/>
          </a:solidFill>
          <a:ln w="6350">
            <a:solidFill>
              <a:srgbClr val="D3CCB8"/>
            </a:solidFill>
          </a:ln>
        </p:spPr>
        <p:txBody>
          <a:bodyPr lIns="45719" rIns="45719"/>
          <a:lstStyle/>
          <a:p>
            <a:pPr>
              <a:defRPr>
                <a:solidFill>
                  <a:srgbClr val="F5F2E9"/>
                </a:solidFill>
              </a:defRPr>
            </a:pPr>
          </a:p>
        </p:txBody>
      </p:sp>
      <p:sp>
        <p:nvSpPr>
          <p:cNvPr id="106" name="Text 3"/>
          <p:cNvSpPr txBox="1"/>
          <p:nvPr/>
        </p:nvSpPr>
        <p:spPr>
          <a:xfrm>
            <a:off x="1073149" y="2241499"/>
            <a:ext cx="2568221" cy="29969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100"/>
              </a:lnSpc>
              <a:defRPr b="1">
                <a:solidFill>
                  <a:srgbClr val="16302B"/>
                </a:solidFill>
              </a:defRPr>
            </a:lvl1pPr>
          </a:lstStyle>
          <a:p>
            <a:pPr/>
            <a:r>
              <a:t>1. Air in</a:t>
            </a:r>
          </a:p>
        </p:txBody>
      </p:sp>
      <p:sp>
        <p:nvSpPr>
          <p:cNvPr id="107" name="Text 4"/>
          <p:cNvSpPr txBox="1"/>
          <p:nvPr/>
        </p:nvSpPr>
        <p:spPr>
          <a:xfrm>
            <a:off x="1073149" y="2617391"/>
            <a:ext cx="2568221" cy="71879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chemeClr val="accent4"/>
                </a:solidFill>
              </a:defRPr>
            </a:lvl1pPr>
          </a:lstStyle>
          <a:p>
            <a:pPr/>
            <a:r>
              <a:t>A small pump pushes air through the water as fine bubbles, and CO₂ dissolves.</a:t>
            </a:r>
          </a:p>
        </p:txBody>
      </p:sp>
      <p:pic>
        <p:nvPicPr>
          <p:cNvPr id="108" name="Image 0" descr="Image 0"/>
          <p:cNvPicPr>
            <a:picLocks noChangeAspect="1"/>
          </p:cNvPicPr>
          <p:nvPr/>
        </p:nvPicPr>
        <p:blipFill>
          <a:blip r:embed="rId3">
            <a:extLst/>
          </a:blip>
          <a:stretch>
            <a:fillRect/>
          </a:stretch>
        </p:blipFill>
        <p:spPr>
          <a:xfrm>
            <a:off x="3979317" y="2636441"/>
            <a:ext cx="457201" cy="279401"/>
          </a:xfrm>
          <a:prstGeom prst="rect">
            <a:avLst/>
          </a:prstGeom>
          <a:ln w="12700">
            <a:miter lim="400000"/>
          </a:ln>
        </p:spPr>
      </p:pic>
      <p:sp>
        <p:nvSpPr>
          <p:cNvPr id="109" name="Shape 5"/>
          <p:cNvSpPr/>
          <p:nvPr/>
        </p:nvSpPr>
        <p:spPr>
          <a:xfrm>
            <a:off x="4592092" y="1984325"/>
            <a:ext cx="3007817" cy="1583630"/>
          </a:xfrm>
          <a:prstGeom prst="roundRect">
            <a:avLst>
              <a:gd name="adj" fmla="val 6215"/>
            </a:avLst>
          </a:prstGeom>
          <a:solidFill>
            <a:srgbClr val="FBFAF5"/>
          </a:solidFill>
          <a:ln w="6350">
            <a:solidFill>
              <a:srgbClr val="D3CCB8"/>
            </a:solidFill>
          </a:ln>
        </p:spPr>
        <p:txBody>
          <a:bodyPr lIns="45719" rIns="45719"/>
          <a:lstStyle/>
          <a:p>
            <a:pPr>
              <a:defRPr>
                <a:solidFill>
                  <a:srgbClr val="F5F2E9"/>
                </a:solidFill>
              </a:defRPr>
            </a:pPr>
          </a:p>
        </p:txBody>
      </p:sp>
      <p:sp>
        <p:nvSpPr>
          <p:cNvPr id="110" name="Text 6"/>
          <p:cNvSpPr txBox="1"/>
          <p:nvPr/>
        </p:nvSpPr>
        <p:spPr>
          <a:xfrm>
            <a:off x="4849267" y="2241499"/>
            <a:ext cx="2568271" cy="29969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100"/>
              </a:lnSpc>
              <a:defRPr b="1">
                <a:solidFill>
                  <a:srgbClr val="16302B"/>
                </a:solidFill>
              </a:defRPr>
            </a:lvl1pPr>
          </a:lstStyle>
          <a:p>
            <a:pPr/>
            <a:r>
              <a:t>2. Algae grow</a:t>
            </a:r>
          </a:p>
        </p:txBody>
      </p:sp>
      <p:sp>
        <p:nvSpPr>
          <p:cNvPr id="111" name="Text 7"/>
          <p:cNvSpPr txBox="1"/>
          <p:nvPr/>
        </p:nvSpPr>
        <p:spPr>
          <a:xfrm>
            <a:off x="4849267" y="2617391"/>
            <a:ext cx="2568271" cy="71879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chemeClr val="accent4"/>
                </a:solidFill>
              </a:defRPr>
            </a:lvl1pPr>
          </a:lstStyle>
          <a:p>
            <a:pPr/>
            <a:r>
              <a:t>With light, algae turn dissolved CO₂ into biomass and release oxygen, which vents out.</a:t>
            </a:r>
          </a:p>
        </p:txBody>
      </p:sp>
      <p:pic>
        <p:nvPicPr>
          <p:cNvPr id="112" name="Image 1" descr="Image 1"/>
          <p:cNvPicPr>
            <a:picLocks noChangeAspect="1"/>
          </p:cNvPicPr>
          <p:nvPr/>
        </p:nvPicPr>
        <p:blipFill>
          <a:blip r:embed="rId3">
            <a:extLst/>
          </a:blip>
          <a:stretch>
            <a:fillRect/>
          </a:stretch>
        </p:blipFill>
        <p:spPr>
          <a:xfrm>
            <a:off x="7755483" y="2636441"/>
            <a:ext cx="457201" cy="279401"/>
          </a:xfrm>
          <a:prstGeom prst="rect">
            <a:avLst/>
          </a:prstGeom>
          <a:ln w="12700">
            <a:miter lim="400000"/>
          </a:ln>
        </p:spPr>
      </p:pic>
      <p:sp>
        <p:nvSpPr>
          <p:cNvPr id="113" name="Shape 8"/>
          <p:cNvSpPr/>
          <p:nvPr/>
        </p:nvSpPr>
        <p:spPr>
          <a:xfrm>
            <a:off x="8368258" y="1984325"/>
            <a:ext cx="3007768" cy="1583630"/>
          </a:xfrm>
          <a:prstGeom prst="roundRect">
            <a:avLst>
              <a:gd name="adj" fmla="val 6215"/>
            </a:avLst>
          </a:prstGeom>
          <a:solidFill>
            <a:srgbClr val="FBFAF5"/>
          </a:solidFill>
          <a:ln w="6350">
            <a:solidFill>
              <a:srgbClr val="D3CCB8"/>
            </a:solidFill>
          </a:ln>
        </p:spPr>
        <p:txBody>
          <a:bodyPr lIns="45719" rIns="45719"/>
          <a:lstStyle/>
          <a:p>
            <a:pPr>
              <a:defRPr>
                <a:solidFill>
                  <a:srgbClr val="F5F2E9"/>
                </a:solidFill>
              </a:defRPr>
            </a:pPr>
          </a:p>
        </p:txBody>
      </p:sp>
      <p:sp>
        <p:nvSpPr>
          <p:cNvPr id="114" name="Text 9"/>
          <p:cNvSpPr txBox="1"/>
          <p:nvPr/>
        </p:nvSpPr>
        <p:spPr>
          <a:xfrm>
            <a:off x="8625433" y="2241499"/>
            <a:ext cx="2568220" cy="29969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100"/>
              </a:lnSpc>
              <a:defRPr b="1">
                <a:solidFill>
                  <a:srgbClr val="16302B"/>
                </a:solidFill>
              </a:defRPr>
            </a:lvl1pPr>
          </a:lstStyle>
          <a:p>
            <a:pPr/>
            <a:r>
              <a:t>3. Harvest</a:t>
            </a:r>
          </a:p>
        </p:txBody>
      </p:sp>
      <p:sp>
        <p:nvSpPr>
          <p:cNvPr id="115" name="Text 10"/>
          <p:cNvSpPr txBox="1"/>
          <p:nvPr/>
        </p:nvSpPr>
        <p:spPr>
          <a:xfrm>
            <a:off x="8625433" y="2617391"/>
            <a:ext cx="2568220" cy="71879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800"/>
              </a:lnSpc>
              <a:defRPr sz="1300">
                <a:solidFill>
                  <a:schemeClr val="accent4"/>
                </a:solidFill>
              </a:defRPr>
            </a:lvl1pPr>
          </a:lstStyle>
          <a:p>
            <a:pPr/>
            <a:r>
              <a:t>Harvested algae become fertilizer, biofuel or feed, so the carbon stays out of the air.</a:t>
            </a:r>
          </a:p>
        </p:txBody>
      </p:sp>
      <p:grpSp>
        <p:nvGrpSpPr>
          <p:cNvPr id="118" name="Text 11"/>
          <p:cNvGrpSpPr/>
          <p:nvPr/>
        </p:nvGrpSpPr>
        <p:grpSpPr>
          <a:xfrm>
            <a:off x="812800" y="3825130"/>
            <a:ext cx="10566400" cy="673101"/>
            <a:chOff x="0" y="0"/>
            <a:chExt cx="10566400" cy="673100"/>
          </a:xfrm>
        </p:grpSpPr>
        <p:sp>
          <p:nvSpPr>
            <p:cNvPr id="116" name="Rounded Rectangle"/>
            <p:cNvSpPr/>
            <p:nvPr/>
          </p:nvSpPr>
          <p:spPr>
            <a:xfrm>
              <a:off x="0" y="0"/>
              <a:ext cx="10566400" cy="673100"/>
            </a:xfrm>
            <a:prstGeom prst="roundRect">
              <a:avLst>
                <a:gd name="adj" fmla="val 15094"/>
              </a:avLst>
            </a:prstGeom>
            <a:solidFill>
              <a:srgbClr val="16302B"/>
            </a:solidFill>
            <a:ln w="12700" cap="flat">
              <a:noFill/>
              <a:miter lim="400000"/>
            </a:ln>
            <a:effectLst/>
          </p:spPr>
          <p:txBody>
            <a:bodyPr wrap="square" lIns="45719" tIns="45719" rIns="45719" bIns="45719" numCol="1" anchor="t">
              <a:noAutofit/>
            </a:bodyPr>
            <a:lstStyle/>
            <a:p>
              <a:pPr>
                <a:lnSpc>
                  <a:spcPts val="2100"/>
                </a:lnSpc>
                <a:defRPr sz="1500">
                  <a:solidFill>
                    <a:srgbClr val="F5F2E9"/>
                  </a:solidFill>
                </a:defRPr>
              </a:pPr>
            </a:p>
          </p:txBody>
        </p:sp>
        <p:sp>
          <p:nvSpPr>
            <p:cNvPr id="117" name="Carbon is only removed if the algae are harvested and used. Left to rot in the tank, they release the CO₂ again."/>
            <p:cNvSpPr txBox="1"/>
            <p:nvPr/>
          </p:nvSpPr>
          <p:spPr>
            <a:xfrm>
              <a:off x="253999" y="203199"/>
              <a:ext cx="10282644" cy="29210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normAutofit fontScale="100000" lnSpcReduction="0"/>
            </a:bodyPr>
            <a:lstStyle>
              <a:lvl1pPr>
                <a:lnSpc>
                  <a:spcPts val="2100"/>
                </a:lnSpc>
                <a:defRPr sz="1500">
                  <a:solidFill>
                    <a:srgbClr val="F5F2E9"/>
                  </a:solidFill>
                </a:defRPr>
              </a:lvl1pPr>
            </a:lstStyle>
            <a:p>
              <a:pPr/>
              <a:r>
                <a:t>Carbon is only removed if the algae are harvested and used. Left to rot in the tank, they release the CO₂ again.</a:t>
              </a:r>
            </a:p>
          </p:txBody>
        </p:sp>
      </p:grpSp>
      <p:sp>
        <p:nvSpPr>
          <p:cNvPr id="119" name="Text 13"/>
          <p:cNvSpPr txBox="1"/>
          <p:nvPr/>
        </p:nvSpPr>
        <p:spPr>
          <a:xfrm>
            <a:off x="10058400" y="6238280"/>
            <a:ext cx="1320800"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gn="r">
              <a:lnSpc>
                <a:spcPts val="1600"/>
              </a:lnSpc>
              <a:defRPr sz="1200">
                <a:solidFill>
                  <a:schemeClr val="accent5"/>
                </a:solidFill>
              </a:defRPr>
            </a:lvl1pPr>
          </a:lstStyle>
          <a:p>
            <a:pPr/>
            <a:r>
              <a:t>05</a:t>
            </a:r>
          </a:p>
        </p:txBody>
      </p:sp>
      <p:pic>
        <p:nvPicPr>
          <p:cNvPr id="120" name="arbora-logo.svg" descr="arbora-logo.svg"/>
          <p:cNvPicPr>
            <a:picLocks noChangeAspect="1"/>
          </p:cNvPicPr>
          <p:nvPr/>
        </p:nvPicPr>
        <p:blipFill>
          <a:blip r:embed="rId4">
            <a:extLst/>
          </a:blip>
          <a:stretch>
            <a:fillRect/>
          </a:stretch>
        </p:blipFill>
        <p:spPr>
          <a:xfrm>
            <a:off x="631077" y="5778500"/>
            <a:ext cx="2082801" cy="874777"/>
          </a:xfrm>
          <a:prstGeom prst="rect">
            <a:avLst/>
          </a:prstGeom>
          <a:ln w="12700">
            <a:miter lim="400000"/>
          </a:ln>
        </p:spPr>
      </p:pic>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4" name="Text 0"/>
          <p:cNvSpPr txBox="1"/>
          <p:nvPr/>
        </p:nvSpPr>
        <p:spPr>
          <a:xfrm>
            <a:off x="812799" y="812800"/>
            <a:ext cx="10883394" cy="23872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pc="100" sz="1200">
                <a:solidFill>
                  <a:schemeClr val="accent1"/>
                </a:solidFill>
              </a:defRPr>
            </a:lvl1pPr>
          </a:lstStyle>
          <a:p>
            <a:pPr/>
            <a:r>
              <a:t>ENVIRONMENTAL IMPACT</a:t>
            </a:r>
          </a:p>
        </p:txBody>
      </p:sp>
      <p:sp>
        <p:nvSpPr>
          <p:cNvPr id="125" name="Text 1"/>
          <p:cNvSpPr txBox="1"/>
          <p:nvPr>
            <p:ph type="title"/>
          </p:nvPr>
        </p:nvSpPr>
        <p:spPr>
          <a:xfrm>
            <a:off x="812799" y="1280120"/>
            <a:ext cx="10883394" cy="472430"/>
          </a:xfrm>
          <a:prstGeom prst="rect">
            <a:avLst/>
          </a:prstGeom>
        </p:spPr>
        <p:txBody>
          <a:bodyPr/>
          <a:lstStyle>
            <a:lvl1pPr>
              <a:lnSpc>
                <a:spcPts val="3500"/>
              </a:lnSpc>
              <a:defRPr b="1"/>
            </a:lvl1pPr>
          </a:lstStyle>
          <a:p>
            <a:pPr/>
            <a:r>
              <a:t>Impact per tree, per year</a:t>
            </a:r>
          </a:p>
        </p:txBody>
      </p:sp>
      <p:sp>
        <p:nvSpPr>
          <p:cNvPr id="126" name="Shape 2"/>
          <p:cNvSpPr/>
          <p:nvPr/>
        </p:nvSpPr>
        <p:spPr>
          <a:xfrm>
            <a:off x="812800" y="1990675"/>
            <a:ext cx="3386635" cy="1"/>
          </a:xfrm>
          <a:prstGeom prst="line">
            <a:avLst/>
          </a:prstGeom>
          <a:ln w="19050">
            <a:solidFill>
              <a:schemeClr val="accent1"/>
            </a:solidFill>
          </a:ln>
        </p:spPr>
        <p:txBody>
          <a:bodyPr lIns="45719" rIns="45719"/>
          <a:lstStyle/>
          <a:p>
            <a:pPr>
              <a:defRPr>
                <a:solidFill>
                  <a:srgbClr val="F5F2E9"/>
                </a:solidFill>
              </a:defRPr>
            </a:pPr>
          </a:p>
        </p:txBody>
      </p:sp>
      <p:sp>
        <p:nvSpPr>
          <p:cNvPr id="127" name="Text 3"/>
          <p:cNvSpPr txBox="1"/>
          <p:nvPr/>
        </p:nvSpPr>
        <p:spPr>
          <a:xfrm>
            <a:off x="812799" y="2152599"/>
            <a:ext cx="3488234" cy="61213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4600"/>
              </a:lnSpc>
              <a:defRPr b="1" sz="4400">
                <a:solidFill>
                  <a:schemeClr val="accent1"/>
                </a:solidFill>
              </a:defRPr>
            </a:lvl1pPr>
          </a:lstStyle>
          <a:p>
            <a:pPr/>
            <a:r>
              <a:t>25–85 kg</a:t>
            </a:r>
          </a:p>
        </p:txBody>
      </p:sp>
      <p:sp>
        <p:nvSpPr>
          <p:cNvPr id="128" name="Text 4"/>
          <p:cNvSpPr txBox="1"/>
          <p:nvPr/>
        </p:nvSpPr>
        <p:spPr>
          <a:xfrm>
            <a:off x="812799" y="2815530"/>
            <a:ext cx="3488234" cy="27429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900"/>
              </a:lnSpc>
              <a:defRPr sz="1400">
                <a:solidFill>
                  <a:srgbClr val="CFE0DA"/>
                </a:solidFill>
              </a:defRPr>
            </a:lvl1pPr>
          </a:lstStyle>
          <a:p>
            <a:pPr/>
            <a:r>
              <a:t>CO₂ removed by algae and plants</a:t>
            </a:r>
          </a:p>
        </p:txBody>
      </p:sp>
      <p:sp>
        <p:nvSpPr>
          <p:cNvPr id="129" name="Shape 5"/>
          <p:cNvSpPr/>
          <p:nvPr/>
        </p:nvSpPr>
        <p:spPr>
          <a:xfrm>
            <a:off x="4402633" y="1990675"/>
            <a:ext cx="3386684" cy="1"/>
          </a:xfrm>
          <a:prstGeom prst="line">
            <a:avLst/>
          </a:prstGeom>
          <a:ln w="19050">
            <a:solidFill>
              <a:schemeClr val="accent1"/>
            </a:solidFill>
          </a:ln>
        </p:spPr>
        <p:txBody>
          <a:bodyPr lIns="45719" rIns="45719"/>
          <a:lstStyle/>
          <a:p>
            <a:pPr>
              <a:defRPr>
                <a:solidFill>
                  <a:srgbClr val="F5F2E9"/>
                </a:solidFill>
              </a:defRPr>
            </a:pPr>
          </a:p>
        </p:txBody>
      </p:sp>
      <p:sp>
        <p:nvSpPr>
          <p:cNvPr id="130" name="Text 6"/>
          <p:cNvSpPr txBox="1"/>
          <p:nvPr/>
        </p:nvSpPr>
        <p:spPr>
          <a:xfrm>
            <a:off x="4402633" y="2152599"/>
            <a:ext cx="3488285" cy="61213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4600"/>
              </a:lnSpc>
              <a:defRPr b="1" sz="4400">
                <a:solidFill>
                  <a:schemeClr val="accent1"/>
                </a:solidFill>
              </a:defRPr>
            </a:lvl1pPr>
          </a:lstStyle>
          <a:p>
            <a:pPr/>
            <a:r>
              <a:t>~500 kg</a:t>
            </a:r>
          </a:p>
        </p:txBody>
      </p:sp>
      <p:sp>
        <p:nvSpPr>
          <p:cNvPr id="131" name="Text 7"/>
          <p:cNvSpPr txBox="1"/>
          <p:nvPr/>
        </p:nvSpPr>
        <p:spPr>
          <a:xfrm>
            <a:off x="4402633" y="2815530"/>
            <a:ext cx="3488285" cy="52318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900"/>
              </a:lnSpc>
              <a:defRPr sz="1400">
                <a:solidFill>
                  <a:srgbClr val="CFE0DA"/>
                </a:solidFill>
              </a:defRPr>
            </a:lvl1pPr>
          </a:lstStyle>
          <a:p>
            <a:pPr/>
            <a:r>
              <a:t>CO₂ avoided by solar power, at most, on an average grid*</a:t>
            </a:r>
          </a:p>
        </p:txBody>
      </p:sp>
      <p:sp>
        <p:nvSpPr>
          <p:cNvPr id="132" name="Shape 8"/>
          <p:cNvSpPr/>
          <p:nvPr/>
        </p:nvSpPr>
        <p:spPr>
          <a:xfrm>
            <a:off x="7992516" y="1990675"/>
            <a:ext cx="3386683" cy="1"/>
          </a:xfrm>
          <a:prstGeom prst="line">
            <a:avLst/>
          </a:prstGeom>
          <a:ln w="19050">
            <a:solidFill>
              <a:schemeClr val="accent1"/>
            </a:solidFill>
          </a:ln>
        </p:spPr>
        <p:txBody>
          <a:bodyPr lIns="45719" rIns="45719"/>
          <a:lstStyle/>
          <a:p>
            <a:pPr>
              <a:defRPr>
                <a:solidFill>
                  <a:srgbClr val="F5F2E9"/>
                </a:solidFill>
              </a:defRPr>
            </a:pPr>
          </a:p>
        </p:txBody>
      </p:sp>
      <p:sp>
        <p:nvSpPr>
          <p:cNvPr id="133" name="Text 9"/>
          <p:cNvSpPr txBox="1"/>
          <p:nvPr/>
        </p:nvSpPr>
        <p:spPr>
          <a:xfrm>
            <a:off x="7992516" y="2152599"/>
            <a:ext cx="3488285" cy="61213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4600"/>
              </a:lnSpc>
              <a:defRPr b="1" sz="4400">
                <a:solidFill>
                  <a:schemeClr val="accent1"/>
                </a:solidFill>
              </a:defRPr>
            </a:lvl1pPr>
          </a:lstStyle>
          <a:p>
            <a:pPr/>
            <a:r>
              <a:t>1–4 trees</a:t>
            </a:r>
          </a:p>
        </p:txBody>
      </p:sp>
      <p:sp>
        <p:nvSpPr>
          <p:cNvPr id="134" name="Text 10"/>
          <p:cNvSpPr txBox="1"/>
          <p:nvPr/>
        </p:nvSpPr>
        <p:spPr>
          <a:xfrm>
            <a:off x="7992516" y="2815530"/>
            <a:ext cx="3488285" cy="52318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900"/>
              </a:lnSpc>
              <a:defRPr sz="1400">
                <a:solidFill>
                  <a:srgbClr val="CFE0DA"/>
                </a:solidFill>
              </a:defRPr>
            </a:lvl1pPr>
          </a:lstStyle>
          <a:p>
            <a:pPr/>
            <a:r>
              <a:t>Removal equal to real trees; up to 5–25 with avoided emissions</a:t>
            </a:r>
          </a:p>
        </p:txBody>
      </p:sp>
      <p:grpSp>
        <p:nvGrpSpPr>
          <p:cNvPr id="137" name="Text 11"/>
          <p:cNvGrpSpPr/>
          <p:nvPr/>
        </p:nvGrpSpPr>
        <p:grpSpPr>
          <a:xfrm>
            <a:off x="815975" y="3570485"/>
            <a:ext cx="10560050" cy="697211"/>
            <a:chOff x="0" y="0"/>
            <a:chExt cx="10560050" cy="697210"/>
          </a:xfrm>
        </p:grpSpPr>
        <p:sp>
          <p:nvSpPr>
            <p:cNvPr id="135" name="Rounded Rectangle"/>
            <p:cNvSpPr/>
            <p:nvPr/>
          </p:nvSpPr>
          <p:spPr>
            <a:xfrm>
              <a:off x="0" y="0"/>
              <a:ext cx="10560050" cy="697211"/>
            </a:xfrm>
            <a:prstGeom prst="roundRect">
              <a:avLst>
                <a:gd name="adj" fmla="val 14117"/>
              </a:avLst>
            </a:prstGeom>
            <a:solidFill>
              <a:srgbClr val="173A34"/>
            </a:solidFill>
            <a:ln w="6350" cap="flat">
              <a:solidFill>
                <a:srgbClr val="2A5A52"/>
              </a:solidFill>
              <a:prstDash val="solid"/>
              <a:round/>
            </a:ln>
            <a:effectLst/>
          </p:spPr>
          <p:txBody>
            <a:bodyPr wrap="square" lIns="45719" tIns="45719" rIns="45719" bIns="45719" numCol="1" anchor="t">
              <a:noAutofit/>
            </a:bodyPr>
            <a:lstStyle/>
            <a:p>
              <a:pPr>
                <a:lnSpc>
                  <a:spcPts val="2200"/>
                </a:lnSpc>
                <a:defRPr sz="1600">
                  <a:solidFill>
                    <a:srgbClr val="F5F2E9"/>
                  </a:solidFill>
                </a:defRPr>
              </a:pPr>
            </a:p>
          </p:txBody>
        </p:sp>
        <p:sp>
          <p:nvSpPr>
            <p:cNvPr id="136" name="Arbora will not out-remove real trees. Its value is local data, clean power, shade and a visible example."/>
            <p:cNvSpPr txBox="1"/>
            <p:nvPr/>
          </p:nvSpPr>
          <p:spPr>
            <a:xfrm>
              <a:off x="260350" y="209550"/>
              <a:ext cx="10267697" cy="30351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normAutofit fontScale="100000" lnSpcReduction="0"/>
            </a:bodyPr>
            <a:lstStyle>
              <a:lvl1pPr>
                <a:lnSpc>
                  <a:spcPts val="2200"/>
                </a:lnSpc>
                <a:defRPr sz="1600">
                  <a:solidFill>
                    <a:srgbClr val="F5F2E9"/>
                  </a:solidFill>
                </a:defRPr>
              </a:lvl1pPr>
            </a:lstStyle>
            <a:p>
              <a:pPr/>
              <a:r>
                <a:t>Arbora will not out-remove real trees. Its value is local data, clean power, shade and a visible example.</a:t>
              </a:r>
            </a:p>
          </p:txBody>
        </p:sp>
      </p:grpSp>
      <p:sp>
        <p:nvSpPr>
          <p:cNvPr id="138" name="Text 12"/>
          <p:cNvSpPr txBox="1"/>
          <p:nvPr/>
        </p:nvSpPr>
        <p:spPr>
          <a:xfrm>
            <a:off x="812800" y="4524871"/>
            <a:ext cx="9810750" cy="45204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sz="1200">
                <a:solidFill>
                  <a:schemeClr val="accent6"/>
                </a:solidFill>
              </a:defRPr>
            </a:lvl1pPr>
          </a:lstStyle>
          <a:p>
            <a:pPr/>
            <a:r>
              <a:t>*Avoided emissions depend on the local grid and are much lower on a hydro-heavy grid like Kyrgyzstan’s. All figures are planning estimates; the MVP will measure real values.</a:t>
            </a:r>
          </a:p>
        </p:txBody>
      </p:sp>
      <p:sp>
        <p:nvSpPr>
          <p:cNvPr id="139" name="Text 13"/>
          <p:cNvSpPr txBox="1"/>
          <p:nvPr/>
        </p:nvSpPr>
        <p:spPr>
          <a:xfrm>
            <a:off x="812800" y="6238280"/>
            <a:ext cx="5232400"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sz="1200">
                <a:solidFill>
                  <a:schemeClr val="accent6"/>
                </a:solidFill>
              </a:defRPr>
            </a:lvl1pPr>
          </a:lstStyle>
          <a:p>
            <a:pPr/>
            <a:r>
              <a:t>Arbora · Smart solar tree</a:t>
            </a:r>
          </a:p>
        </p:txBody>
      </p:sp>
      <p:sp>
        <p:nvSpPr>
          <p:cNvPr id="140" name="Text 14"/>
          <p:cNvSpPr txBox="1"/>
          <p:nvPr/>
        </p:nvSpPr>
        <p:spPr>
          <a:xfrm>
            <a:off x="10058400" y="6238280"/>
            <a:ext cx="1320800"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gn="r">
              <a:lnSpc>
                <a:spcPts val="1600"/>
              </a:lnSpc>
              <a:defRPr sz="1200">
                <a:solidFill>
                  <a:schemeClr val="accent6"/>
                </a:solidFill>
              </a:defRPr>
            </a:lvl1pPr>
          </a:lstStyle>
          <a:p>
            <a:pPr/>
            <a:r>
              <a:t>06</a:t>
            </a:r>
          </a:p>
        </p:txBody>
      </p:sp>
      <p:pic>
        <p:nvPicPr>
          <p:cNvPr id="141" name="pasted-movie.png" descr="pasted-movie.png"/>
          <p:cNvPicPr>
            <a:picLocks noChangeAspect="1"/>
          </p:cNvPicPr>
          <p:nvPr/>
        </p:nvPicPr>
        <p:blipFill>
          <a:blip r:embed="rId3">
            <a:extLst/>
          </a:blip>
          <a:stretch>
            <a:fillRect/>
          </a:stretch>
        </p:blipFill>
        <p:spPr>
          <a:xfrm>
            <a:off x="633485" y="5773850"/>
            <a:ext cx="2096335" cy="880461"/>
          </a:xfrm>
          <a:prstGeom prst="rect">
            <a:avLst/>
          </a:prstGeom>
          <a:ln w="12700">
            <a:miter lim="400000"/>
          </a:ln>
        </p:spPr>
      </p:pic>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5F2E9"/>
        </a:solidFill>
      </p:bgPr>
    </p:bg>
    <p:spTree>
      <p:nvGrpSpPr>
        <p:cNvPr id="1" name=""/>
        <p:cNvGrpSpPr/>
        <p:nvPr/>
      </p:nvGrpSpPr>
      <p:grpSpPr>
        <a:xfrm>
          <a:off x="0" y="0"/>
          <a:ext cx="0" cy="0"/>
          <a:chOff x="0" y="0"/>
          <a:chExt cx="0" cy="0"/>
        </a:xfrm>
      </p:grpSpPr>
      <p:sp>
        <p:nvSpPr>
          <p:cNvPr id="145" name="Text 0"/>
          <p:cNvSpPr txBox="1"/>
          <p:nvPr/>
        </p:nvSpPr>
        <p:spPr>
          <a:xfrm>
            <a:off x="812799" y="812800"/>
            <a:ext cx="10883394" cy="23872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pc="100" sz="1200">
                <a:solidFill>
                  <a:schemeClr val="accent2"/>
                </a:solidFill>
              </a:defRPr>
            </a:lvl1pPr>
          </a:lstStyle>
          <a:p>
            <a:pPr/>
            <a:r>
              <a:t>BEYOND CARBON</a:t>
            </a:r>
          </a:p>
        </p:txBody>
      </p:sp>
      <p:sp>
        <p:nvSpPr>
          <p:cNvPr id="146" name="Text 1"/>
          <p:cNvSpPr txBox="1"/>
          <p:nvPr>
            <p:ph type="title"/>
          </p:nvPr>
        </p:nvSpPr>
        <p:spPr>
          <a:xfrm>
            <a:off x="812799" y="1229320"/>
            <a:ext cx="10883394" cy="472430"/>
          </a:xfrm>
          <a:prstGeom prst="rect">
            <a:avLst/>
          </a:prstGeom>
        </p:spPr>
        <p:txBody>
          <a:bodyPr/>
          <a:lstStyle>
            <a:lvl1pPr>
              <a:lnSpc>
                <a:spcPts val="3500"/>
              </a:lnSpc>
              <a:defRPr b="1">
                <a:solidFill>
                  <a:srgbClr val="16302B"/>
                </a:solidFill>
              </a:defRPr>
            </a:lvl1pPr>
          </a:lstStyle>
          <a:p>
            <a:pPr/>
            <a:r>
              <a:t>Where the real value is</a:t>
            </a:r>
          </a:p>
        </p:txBody>
      </p:sp>
      <p:sp>
        <p:nvSpPr>
          <p:cNvPr id="147" name="Shape 2"/>
          <p:cNvSpPr/>
          <p:nvPr/>
        </p:nvSpPr>
        <p:spPr>
          <a:xfrm>
            <a:off x="812800" y="1882725"/>
            <a:ext cx="10566401" cy="1"/>
          </a:xfrm>
          <a:prstGeom prst="line">
            <a:avLst/>
          </a:prstGeom>
          <a:ln w="6350">
            <a:solidFill>
              <a:srgbClr val="CFC8B4"/>
            </a:solidFill>
          </a:ln>
        </p:spPr>
        <p:txBody>
          <a:bodyPr lIns="45719" rIns="45719"/>
          <a:lstStyle/>
          <a:p>
            <a:pPr>
              <a:defRPr>
                <a:solidFill>
                  <a:srgbClr val="F5F2E9"/>
                </a:solidFill>
              </a:defRPr>
            </a:pPr>
          </a:p>
        </p:txBody>
      </p:sp>
      <p:sp>
        <p:nvSpPr>
          <p:cNvPr id="148" name="Text 3"/>
          <p:cNvSpPr txBox="1"/>
          <p:nvPr/>
        </p:nvSpPr>
        <p:spPr>
          <a:xfrm>
            <a:off x="812800" y="2063700"/>
            <a:ext cx="3662680"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400"/>
              </a:lnSpc>
              <a:defRPr b="1" sz="2000">
                <a:solidFill>
                  <a:srgbClr val="16302B"/>
                </a:solidFill>
              </a:defRPr>
            </a:lvl1pPr>
          </a:lstStyle>
          <a:p>
            <a:pPr/>
            <a:r>
              <a:t>Local air data</a:t>
            </a:r>
          </a:p>
        </p:txBody>
      </p:sp>
      <p:sp>
        <p:nvSpPr>
          <p:cNvPr id="149" name="Text 4"/>
          <p:cNvSpPr txBox="1"/>
          <p:nvPr/>
        </p:nvSpPr>
        <p:spPr>
          <a:xfrm>
            <a:off x="4673599" y="2063700"/>
            <a:ext cx="6906770" cy="27429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900"/>
              </a:lnSpc>
              <a:defRPr sz="1400">
                <a:solidFill>
                  <a:schemeClr val="accent4"/>
                </a:solidFill>
              </a:defRPr>
            </a:lvl1pPr>
          </a:lstStyle>
          <a:p>
            <a:pPr/>
            <a:r>
              <a:t>Live readings help residents, schools and planners see pollution where it happens.</a:t>
            </a:r>
          </a:p>
        </p:txBody>
      </p:sp>
      <p:sp>
        <p:nvSpPr>
          <p:cNvPr id="150" name="Shape 5"/>
          <p:cNvSpPr/>
          <p:nvPr/>
        </p:nvSpPr>
        <p:spPr>
          <a:xfrm>
            <a:off x="812800" y="2549475"/>
            <a:ext cx="10566401" cy="1"/>
          </a:xfrm>
          <a:prstGeom prst="line">
            <a:avLst/>
          </a:prstGeom>
          <a:ln w="6350">
            <a:solidFill>
              <a:srgbClr val="CFC8B4"/>
            </a:solidFill>
          </a:ln>
        </p:spPr>
        <p:txBody>
          <a:bodyPr lIns="45719" rIns="45719"/>
          <a:lstStyle/>
          <a:p>
            <a:pPr>
              <a:defRPr>
                <a:solidFill>
                  <a:srgbClr val="F5F2E9"/>
                </a:solidFill>
              </a:defRPr>
            </a:pPr>
          </a:p>
        </p:txBody>
      </p:sp>
      <p:sp>
        <p:nvSpPr>
          <p:cNvPr id="151" name="Text 6"/>
          <p:cNvSpPr txBox="1"/>
          <p:nvPr/>
        </p:nvSpPr>
        <p:spPr>
          <a:xfrm>
            <a:off x="812800" y="2730450"/>
            <a:ext cx="3662680"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400"/>
              </a:lnSpc>
              <a:defRPr b="1" sz="2000">
                <a:solidFill>
                  <a:srgbClr val="16302B"/>
                </a:solidFill>
              </a:defRPr>
            </a:lvl1pPr>
          </a:lstStyle>
          <a:p>
            <a:pPr/>
            <a:r>
              <a:t>Shade and rain cover</a:t>
            </a:r>
          </a:p>
        </p:txBody>
      </p:sp>
      <p:sp>
        <p:nvSpPr>
          <p:cNvPr id="152" name="Text 7"/>
          <p:cNvSpPr txBox="1"/>
          <p:nvPr/>
        </p:nvSpPr>
        <p:spPr>
          <a:xfrm>
            <a:off x="4673599" y="2730450"/>
            <a:ext cx="6906770" cy="27429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900"/>
              </a:lnSpc>
              <a:defRPr sz="1400">
                <a:solidFill>
                  <a:schemeClr val="accent4"/>
                </a:solidFill>
              </a:defRPr>
            </a:lvl1pPr>
          </a:lstStyle>
          <a:p>
            <a:pPr/>
            <a:r>
              <a:t>A cooler, drier place to sit, and the base for future cooling zones.</a:t>
            </a:r>
          </a:p>
        </p:txBody>
      </p:sp>
      <p:sp>
        <p:nvSpPr>
          <p:cNvPr id="153" name="Shape 8"/>
          <p:cNvSpPr/>
          <p:nvPr/>
        </p:nvSpPr>
        <p:spPr>
          <a:xfrm>
            <a:off x="812800" y="3216225"/>
            <a:ext cx="10566401" cy="1"/>
          </a:xfrm>
          <a:prstGeom prst="line">
            <a:avLst/>
          </a:prstGeom>
          <a:ln w="6350">
            <a:solidFill>
              <a:srgbClr val="CFC8B4"/>
            </a:solidFill>
          </a:ln>
        </p:spPr>
        <p:txBody>
          <a:bodyPr lIns="45719" rIns="45719"/>
          <a:lstStyle/>
          <a:p>
            <a:pPr>
              <a:defRPr>
                <a:solidFill>
                  <a:srgbClr val="F5F2E9"/>
                </a:solidFill>
              </a:defRPr>
            </a:pPr>
          </a:p>
        </p:txBody>
      </p:sp>
      <p:sp>
        <p:nvSpPr>
          <p:cNvPr id="154" name="Text 9"/>
          <p:cNvSpPr txBox="1"/>
          <p:nvPr/>
        </p:nvSpPr>
        <p:spPr>
          <a:xfrm>
            <a:off x="812800" y="3397200"/>
            <a:ext cx="3662680"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400"/>
              </a:lnSpc>
              <a:defRPr b="1" sz="2000">
                <a:solidFill>
                  <a:srgbClr val="16302B"/>
                </a:solidFill>
              </a:defRPr>
            </a:lvl1pPr>
          </a:lstStyle>
          <a:p>
            <a:pPr/>
            <a:r>
              <a:t>Public charging</a:t>
            </a:r>
          </a:p>
        </p:txBody>
      </p:sp>
      <p:sp>
        <p:nvSpPr>
          <p:cNvPr id="155" name="Text 10"/>
          <p:cNvSpPr txBox="1"/>
          <p:nvPr/>
        </p:nvSpPr>
        <p:spPr>
          <a:xfrm>
            <a:off x="4673599" y="3397200"/>
            <a:ext cx="6906770" cy="27429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900"/>
              </a:lnSpc>
              <a:defRPr sz="1400">
                <a:solidFill>
                  <a:schemeClr val="accent4"/>
                </a:solidFill>
              </a:defRPr>
            </a:lvl1pPr>
          </a:lstStyle>
          <a:p>
            <a:pPr/>
            <a:r>
              <a:t>Benches with USB-C draw on the tree’s own solar power.</a:t>
            </a:r>
          </a:p>
        </p:txBody>
      </p:sp>
      <p:sp>
        <p:nvSpPr>
          <p:cNvPr id="156" name="Shape 11"/>
          <p:cNvSpPr/>
          <p:nvPr/>
        </p:nvSpPr>
        <p:spPr>
          <a:xfrm>
            <a:off x="812800" y="3882975"/>
            <a:ext cx="10566401" cy="1"/>
          </a:xfrm>
          <a:prstGeom prst="line">
            <a:avLst/>
          </a:prstGeom>
          <a:ln w="6350">
            <a:solidFill>
              <a:srgbClr val="CFC8B4"/>
            </a:solidFill>
          </a:ln>
        </p:spPr>
        <p:txBody>
          <a:bodyPr lIns="45719" rIns="45719"/>
          <a:lstStyle/>
          <a:p>
            <a:pPr>
              <a:defRPr>
                <a:solidFill>
                  <a:srgbClr val="F5F2E9"/>
                </a:solidFill>
              </a:defRPr>
            </a:pPr>
          </a:p>
        </p:txBody>
      </p:sp>
      <p:sp>
        <p:nvSpPr>
          <p:cNvPr id="157" name="Text 12"/>
          <p:cNvSpPr txBox="1"/>
          <p:nvPr/>
        </p:nvSpPr>
        <p:spPr>
          <a:xfrm>
            <a:off x="812800" y="4063950"/>
            <a:ext cx="3662680"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400"/>
              </a:lnSpc>
              <a:defRPr b="1" sz="2000">
                <a:solidFill>
                  <a:srgbClr val="16302B"/>
                </a:solidFill>
              </a:defRPr>
            </a:lvl1pPr>
          </a:lstStyle>
          <a:p>
            <a:pPr/>
            <a:r>
              <a:t>A visible example</a:t>
            </a:r>
          </a:p>
        </p:txBody>
      </p:sp>
      <p:sp>
        <p:nvSpPr>
          <p:cNvPr id="158" name="Text 13"/>
          <p:cNvSpPr txBox="1"/>
          <p:nvPr/>
        </p:nvSpPr>
        <p:spPr>
          <a:xfrm>
            <a:off x="4673599" y="4063950"/>
            <a:ext cx="6906770" cy="27429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900"/>
              </a:lnSpc>
              <a:defRPr sz="1400">
                <a:solidFill>
                  <a:schemeClr val="accent4"/>
                </a:solidFill>
              </a:defRPr>
            </a:lvl1pPr>
          </a:lstStyle>
          <a:p>
            <a:pPr/>
            <a:r>
              <a:t>People see clean energy and clean air working in their own street.</a:t>
            </a:r>
          </a:p>
        </p:txBody>
      </p:sp>
      <p:sp>
        <p:nvSpPr>
          <p:cNvPr id="159" name="Text 15"/>
          <p:cNvSpPr txBox="1"/>
          <p:nvPr/>
        </p:nvSpPr>
        <p:spPr>
          <a:xfrm>
            <a:off x="10058400" y="6238280"/>
            <a:ext cx="1320800"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gn="r">
              <a:lnSpc>
                <a:spcPts val="1600"/>
              </a:lnSpc>
              <a:defRPr sz="1200">
                <a:solidFill>
                  <a:schemeClr val="accent5"/>
                </a:solidFill>
              </a:defRPr>
            </a:lvl1pPr>
          </a:lstStyle>
          <a:p>
            <a:pPr/>
            <a:r>
              <a:t>07</a:t>
            </a:r>
          </a:p>
        </p:txBody>
      </p:sp>
      <p:pic>
        <p:nvPicPr>
          <p:cNvPr id="160" name="arbora-logo.svg" descr="arbora-logo.svg"/>
          <p:cNvPicPr>
            <a:picLocks noChangeAspect="1"/>
          </p:cNvPicPr>
          <p:nvPr/>
        </p:nvPicPr>
        <p:blipFill>
          <a:blip r:embed="rId3">
            <a:extLst/>
          </a:blip>
          <a:stretch>
            <a:fillRect/>
          </a:stretch>
        </p:blipFill>
        <p:spPr>
          <a:xfrm>
            <a:off x="631077" y="5778500"/>
            <a:ext cx="2082801" cy="874777"/>
          </a:xfrm>
          <a:prstGeom prst="rect">
            <a:avLst/>
          </a:prstGeom>
          <a:ln w="12700">
            <a:miter lim="400000"/>
          </a:ln>
        </p:spPr>
      </p:pic>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EAE5D6"/>
        </a:solidFill>
      </p:bgPr>
    </p:bg>
    <p:spTree>
      <p:nvGrpSpPr>
        <p:cNvPr id="1" name=""/>
        <p:cNvGrpSpPr/>
        <p:nvPr/>
      </p:nvGrpSpPr>
      <p:grpSpPr>
        <a:xfrm>
          <a:off x="0" y="0"/>
          <a:ext cx="0" cy="0"/>
          <a:chOff x="0" y="0"/>
          <a:chExt cx="0" cy="0"/>
        </a:xfrm>
      </p:grpSpPr>
      <p:sp>
        <p:nvSpPr>
          <p:cNvPr id="164" name="Text 0"/>
          <p:cNvSpPr txBox="1"/>
          <p:nvPr/>
        </p:nvSpPr>
        <p:spPr>
          <a:xfrm>
            <a:off x="812799" y="812800"/>
            <a:ext cx="10883394" cy="23872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pc="100" sz="1200">
                <a:solidFill>
                  <a:schemeClr val="accent2"/>
                </a:solidFill>
              </a:defRPr>
            </a:lvl1pPr>
          </a:lstStyle>
          <a:p>
            <a:pPr/>
            <a:r>
              <a:t>CONNECTED</a:t>
            </a:r>
          </a:p>
        </p:txBody>
      </p:sp>
      <p:sp>
        <p:nvSpPr>
          <p:cNvPr id="165" name="Text 1"/>
          <p:cNvSpPr txBox="1"/>
          <p:nvPr>
            <p:ph type="title"/>
          </p:nvPr>
        </p:nvSpPr>
        <p:spPr>
          <a:xfrm>
            <a:off x="812799" y="1254720"/>
            <a:ext cx="10883394" cy="472430"/>
          </a:xfrm>
          <a:prstGeom prst="rect">
            <a:avLst/>
          </a:prstGeom>
        </p:spPr>
        <p:txBody>
          <a:bodyPr/>
          <a:lstStyle>
            <a:lvl1pPr>
              <a:lnSpc>
                <a:spcPts val="3500"/>
              </a:lnSpc>
              <a:defRPr b="1">
                <a:solidFill>
                  <a:srgbClr val="16302B"/>
                </a:solidFill>
              </a:defRPr>
            </a:lvl1pPr>
          </a:lstStyle>
          <a:p>
            <a:pPr/>
            <a:r>
              <a:t>Website now, apps next</a:t>
            </a:r>
          </a:p>
        </p:txBody>
      </p:sp>
      <p:grpSp>
        <p:nvGrpSpPr>
          <p:cNvPr id="168" name="Text 2"/>
          <p:cNvGrpSpPr/>
          <p:nvPr/>
        </p:nvGrpSpPr>
        <p:grpSpPr>
          <a:xfrm>
            <a:off x="812800" y="1930350"/>
            <a:ext cx="2146300" cy="640061"/>
            <a:chOff x="0" y="0"/>
            <a:chExt cx="2146300" cy="640060"/>
          </a:xfrm>
        </p:grpSpPr>
        <p:sp>
          <p:nvSpPr>
            <p:cNvPr id="166" name="Rounded Rectangle"/>
            <p:cNvSpPr/>
            <p:nvPr/>
          </p:nvSpPr>
          <p:spPr>
            <a:xfrm>
              <a:off x="0" y="0"/>
              <a:ext cx="2146300" cy="640061"/>
            </a:xfrm>
            <a:prstGeom prst="roundRect">
              <a:avLst>
                <a:gd name="adj" fmla="val 15874"/>
              </a:avLst>
            </a:prstGeom>
            <a:solidFill>
              <a:srgbClr val="16302B"/>
            </a:solidFill>
            <a:ln w="12700" cap="flat">
              <a:noFill/>
              <a:miter lim="400000"/>
            </a:ln>
            <a:effectLst/>
          </p:spPr>
          <p:txBody>
            <a:bodyPr wrap="square" lIns="45719" tIns="45719" rIns="45719" bIns="45719" numCol="1" anchor="t">
              <a:noAutofit/>
            </a:bodyPr>
            <a:lstStyle/>
            <a:p>
              <a:pPr algn="ctr">
                <a:lnSpc>
                  <a:spcPts val="2200"/>
                </a:lnSpc>
                <a:defRPr sz="1600">
                  <a:solidFill>
                    <a:srgbClr val="F5F2E9"/>
                  </a:solidFill>
                </a:defRPr>
              </a:pPr>
            </a:p>
          </p:txBody>
        </p:sp>
        <p:sp>
          <p:nvSpPr>
            <p:cNvPr id="167" name="Tree sensors"/>
            <p:cNvSpPr txBox="1"/>
            <p:nvPr/>
          </p:nvSpPr>
          <p:spPr>
            <a:xfrm>
              <a:off x="29758" y="108943"/>
              <a:ext cx="2086784" cy="447574"/>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68858" tIns="68858" rIns="68858" bIns="68858" numCol="1" anchor="t">
              <a:normAutofit fontScale="100000" lnSpcReduction="0"/>
            </a:bodyPr>
            <a:lstStyle>
              <a:lvl1pPr algn="ctr">
                <a:lnSpc>
                  <a:spcPts val="2200"/>
                </a:lnSpc>
                <a:defRPr b="1" sz="1600">
                  <a:solidFill>
                    <a:srgbClr val="F5F2E9"/>
                  </a:solidFill>
                </a:defRPr>
              </a:lvl1pPr>
            </a:lstStyle>
            <a:p>
              <a:pPr/>
              <a:r>
                <a:t>Tree sensors</a:t>
              </a:r>
            </a:p>
          </p:txBody>
        </p:sp>
      </p:grpSp>
      <p:pic>
        <p:nvPicPr>
          <p:cNvPr id="169" name="Image 0" descr="Image 0"/>
          <p:cNvPicPr>
            <a:picLocks noChangeAspect="1"/>
          </p:cNvPicPr>
          <p:nvPr/>
        </p:nvPicPr>
        <p:blipFill>
          <a:blip r:embed="rId3">
            <a:extLst/>
          </a:blip>
          <a:stretch>
            <a:fillRect/>
          </a:stretch>
        </p:blipFill>
        <p:spPr>
          <a:xfrm>
            <a:off x="3086100" y="2123380"/>
            <a:ext cx="406400" cy="254001"/>
          </a:xfrm>
          <a:prstGeom prst="rect">
            <a:avLst/>
          </a:prstGeom>
          <a:ln w="12700">
            <a:miter lim="400000"/>
          </a:ln>
        </p:spPr>
      </p:pic>
      <p:grpSp>
        <p:nvGrpSpPr>
          <p:cNvPr id="172" name="Text 3"/>
          <p:cNvGrpSpPr/>
          <p:nvPr/>
        </p:nvGrpSpPr>
        <p:grpSpPr>
          <a:xfrm>
            <a:off x="3619500" y="1930350"/>
            <a:ext cx="2146300" cy="640061"/>
            <a:chOff x="0" y="0"/>
            <a:chExt cx="2146300" cy="640060"/>
          </a:xfrm>
        </p:grpSpPr>
        <p:sp>
          <p:nvSpPr>
            <p:cNvPr id="170" name="Rounded Rectangle"/>
            <p:cNvSpPr/>
            <p:nvPr/>
          </p:nvSpPr>
          <p:spPr>
            <a:xfrm>
              <a:off x="0" y="0"/>
              <a:ext cx="2146300" cy="640061"/>
            </a:xfrm>
            <a:prstGeom prst="roundRect">
              <a:avLst>
                <a:gd name="adj" fmla="val 15874"/>
              </a:avLst>
            </a:prstGeom>
            <a:solidFill>
              <a:srgbClr val="16302B"/>
            </a:solidFill>
            <a:ln w="12700" cap="flat">
              <a:noFill/>
              <a:miter lim="400000"/>
            </a:ln>
            <a:effectLst/>
          </p:spPr>
          <p:txBody>
            <a:bodyPr wrap="square" lIns="45719" tIns="45719" rIns="45719" bIns="45719" numCol="1" anchor="t">
              <a:noAutofit/>
            </a:bodyPr>
            <a:lstStyle/>
            <a:p>
              <a:pPr algn="ctr">
                <a:lnSpc>
                  <a:spcPts val="2200"/>
                </a:lnSpc>
                <a:defRPr sz="1600">
                  <a:solidFill>
                    <a:srgbClr val="F5F2E9"/>
                  </a:solidFill>
                </a:defRPr>
              </a:pPr>
            </a:p>
          </p:txBody>
        </p:sp>
        <p:sp>
          <p:nvSpPr>
            <p:cNvPr id="171" name="Cloud database"/>
            <p:cNvSpPr txBox="1"/>
            <p:nvPr/>
          </p:nvSpPr>
          <p:spPr>
            <a:xfrm>
              <a:off x="29758" y="108943"/>
              <a:ext cx="2086784" cy="447574"/>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68858" tIns="68858" rIns="68858" bIns="68858" numCol="1" anchor="t">
              <a:normAutofit fontScale="100000" lnSpcReduction="0"/>
            </a:bodyPr>
            <a:lstStyle>
              <a:lvl1pPr algn="ctr">
                <a:lnSpc>
                  <a:spcPts val="2200"/>
                </a:lnSpc>
                <a:defRPr b="1" sz="1600">
                  <a:solidFill>
                    <a:srgbClr val="F5F2E9"/>
                  </a:solidFill>
                </a:defRPr>
              </a:lvl1pPr>
            </a:lstStyle>
            <a:p>
              <a:pPr/>
              <a:r>
                <a:t>Cloud database</a:t>
              </a:r>
            </a:p>
          </p:txBody>
        </p:sp>
      </p:grpSp>
      <p:pic>
        <p:nvPicPr>
          <p:cNvPr id="173" name="Image 1" descr="Image 1"/>
          <p:cNvPicPr>
            <a:picLocks noChangeAspect="1"/>
          </p:cNvPicPr>
          <p:nvPr/>
        </p:nvPicPr>
        <p:blipFill>
          <a:blip r:embed="rId3">
            <a:extLst/>
          </a:blip>
          <a:stretch>
            <a:fillRect/>
          </a:stretch>
        </p:blipFill>
        <p:spPr>
          <a:xfrm>
            <a:off x="5892800" y="2123380"/>
            <a:ext cx="406400" cy="254001"/>
          </a:xfrm>
          <a:prstGeom prst="rect">
            <a:avLst/>
          </a:prstGeom>
          <a:ln w="12700">
            <a:miter lim="400000"/>
          </a:ln>
        </p:spPr>
      </p:pic>
      <p:grpSp>
        <p:nvGrpSpPr>
          <p:cNvPr id="176" name="Text 4"/>
          <p:cNvGrpSpPr/>
          <p:nvPr/>
        </p:nvGrpSpPr>
        <p:grpSpPr>
          <a:xfrm>
            <a:off x="6426200" y="1930350"/>
            <a:ext cx="2146300" cy="640061"/>
            <a:chOff x="0" y="0"/>
            <a:chExt cx="2146300" cy="640060"/>
          </a:xfrm>
        </p:grpSpPr>
        <p:sp>
          <p:nvSpPr>
            <p:cNvPr id="174" name="Rounded Rectangle"/>
            <p:cNvSpPr/>
            <p:nvPr/>
          </p:nvSpPr>
          <p:spPr>
            <a:xfrm>
              <a:off x="0" y="0"/>
              <a:ext cx="2146300" cy="640061"/>
            </a:xfrm>
            <a:prstGeom prst="roundRect">
              <a:avLst>
                <a:gd name="adj" fmla="val 15874"/>
              </a:avLst>
            </a:prstGeom>
            <a:solidFill>
              <a:schemeClr val="accent3"/>
            </a:solidFill>
            <a:ln w="12700" cap="flat">
              <a:noFill/>
              <a:miter lim="400000"/>
            </a:ln>
            <a:effectLst/>
          </p:spPr>
          <p:txBody>
            <a:bodyPr wrap="square" lIns="45719" tIns="45719" rIns="45719" bIns="45719" numCol="1" anchor="t">
              <a:noAutofit/>
            </a:bodyPr>
            <a:lstStyle/>
            <a:p>
              <a:pPr algn="ctr">
                <a:lnSpc>
                  <a:spcPts val="2200"/>
                </a:lnSpc>
                <a:defRPr sz="1600">
                  <a:solidFill>
                    <a:srgbClr val="F5F2E9"/>
                  </a:solidFill>
                </a:defRPr>
              </a:pPr>
            </a:p>
          </p:txBody>
        </p:sp>
        <p:sp>
          <p:nvSpPr>
            <p:cNvPr id="175" name="Website"/>
            <p:cNvSpPr txBox="1"/>
            <p:nvPr/>
          </p:nvSpPr>
          <p:spPr>
            <a:xfrm>
              <a:off x="29758" y="108943"/>
              <a:ext cx="2086784" cy="447574"/>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68858" tIns="68858" rIns="68858" bIns="68858" numCol="1" anchor="t">
              <a:normAutofit fontScale="100000" lnSpcReduction="0"/>
            </a:bodyPr>
            <a:lstStyle>
              <a:lvl1pPr algn="ctr">
                <a:lnSpc>
                  <a:spcPts val="2200"/>
                </a:lnSpc>
                <a:defRPr b="1" sz="1600"/>
              </a:lvl1pPr>
            </a:lstStyle>
            <a:p>
              <a:pPr/>
              <a:r>
                <a:t>Website</a:t>
              </a:r>
            </a:p>
          </p:txBody>
        </p:sp>
      </p:grpSp>
      <p:pic>
        <p:nvPicPr>
          <p:cNvPr id="177" name="Image 2" descr="Image 2"/>
          <p:cNvPicPr>
            <a:picLocks noChangeAspect="1"/>
          </p:cNvPicPr>
          <p:nvPr/>
        </p:nvPicPr>
        <p:blipFill>
          <a:blip r:embed="rId3">
            <a:extLst/>
          </a:blip>
          <a:stretch>
            <a:fillRect/>
          </a:stretch>
        </p:blipFill>
        <p:spPr>
          <a:xfrm>
            <a:off x="8699500" y="2123380"/>
            <a:ext cx="406400" cy="254001"/>
          </a:xfrm>
          <a:prstGeom prst="rect">
            <a:avLst/>
          </a:prstGeom>
          <a:ln w="12700">
            <a:miter lim="400000"/>
          </a:ln>
        </p:spPr>
      </p:pic>
      <p:grpSp>
        <p:nvGrpSpPr>
          <p:cNvPr id="180" name="Text 5"/>
          <p:cNvGrpSpPr/>
          <p:nvPr/>
        </p:nvGrpSpPr>
        <p:grpSpPr>
          <a:xfrm>
            <a:off x="9232900" y="1930350"/>
            <a:ext cx="2146300" cy="640061"/>
            <a:chOff x="0" y="0"/>
            <a:chExt cx="2146300" cy="640060"/>
          </a:xfrm>
        </p:grpSpPr>
        <p:sp>
          <p:nvSpPr>
            <p:cNvPr id="178" name="Rounded Rectangle"/>
            <p:cNvSpPr/>
            <p:nvPr/>
          </p:nvSpPr>
          <p:spPr>
            <a:xfrm>
              <a:off x="0" y="0"/>
              <a:ext cx="2146300" cy="640061"/>
            </a:xfrm>
            <a:prstGeom prst="roundRect">
              <a:avLst>
                <a:gd name="adj" fmla="val 15874"/>
              </a:avLst>
            </a:prstGeom>
            <a:solidFill>
              <a:schemeClr val="accent1"/>
            </a:solidFill>
            <a:ln w="12700" cap="flat">
              <a:noFill/>
              <a:miter lim="400000"/>
            </a:ln>
            <a:effectLst/>
          </p:spPr>
          <p:txBody>
            <a:bodyPr wrap="square" lIns="45719" tIns="45719" rIns="45719" bIns="45719" numCol="1" anchor="t">
              <a:noAutofit/>
            </a:bodyPr>
            <a:lstStyle/>
            <a:p>
              <a:pPr algn="ctr">
                <a:lnSpc>
                  <a:spcPts val="2200"/>
                </a:lnSpc>
                <a:defRPr sz="1600">
                  <a:solidFill>
                    <a:srgbClr val="F5F2E9"/>
                  </a:solidFill>
                </a:defRPr>
              </a:pPr>
            </a:p>
          </p:txBody>
        </p:sp>
        <p:sp>
          <p:nvSpPr>
            <p:cNvPr id="179" name="App"/>
            <p:cNvSpPr txBox="1"/>
            <p:nvPr/>
          </p:nvSpPr>
          <p:spPr>
            <a:xfrm>
              <a:off x="29758" y="108943"/>
              <a:ext cx="2086784" cy="447574"/>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68858" tIns="68858" rIns="68858" bIns="68858" numCol="1" anchor="t">
              <a:normAutofit fontScale="100000" lnSpcReduction="0"/>
            </a:bodyPr>
            <a:lstStyle>
              <a:lvl1pPr algn="ctr">
                <a:lnSpc>
                  <a:spcPts val="2200"/>
                </a:lnSpc>
                <a:defRPr b="1" sz="1600"/>
              </a:lvl1pPr>
            </a:lstStyle>
            <a:p>
              <a:pPr/>
              <a:r>
                <a:t>App</a:t>
              </a:r>
            </a:p>
          </p:txBody>
        </p:sp>
      </p:grpSp>
      <p:sp>
        <p:nvSpPr>
          <p:cNvPr id="181" name="Shape 6"/>
          <p:cNvSpPr/>
          <p:nvPr/>
        </p:nvSpPr>
        <p:spPr>
          <a:xfrm>
            <a:off x="815975" y="2802185"/>
            <a:ext cx="5175250" cy="1835002"/>
          </a:xfrm>
          <a:prstGeom prst="roundRect">
            <a:avLst>
              <a:gd name="adj" fmla="val 5364"/>
            </a:avLst>
          </a:prstGeom>
          <a:solidFill>
            <a:srgbClr val="FBFAF5"/>
          </a:solidFill>
          <a:ln w="6350">
            <a:solidFill>
              <a:srgbClr val="D3CCB8"/>
            </a:solidFill>
          </a:ln>
        </p:spPr>
        <p:txBody>
          <a:bodyPr lIns="45719" rIns="45719"/>
          <a:lstStyle/>
          <a:p>
            <a:pPr>
              <a:defRPr>
                <a:solidFill>
                  <a:srgbClr val="F5F2E9"/>
                </a:solidFill>
              </a:defRPr>
            </a:pPr>
          </a:p>
        </p:txBody>
      </p:sp>
      <p:sp>
        <p:nvSpPr>
          <p:cNvPr id="182" name="Text 7"/>
          <p:cNvSpPr txBox="1"/>
          <p:nvPr/>
        </p:nvSpPr>
        <p:spPr>
          <a:xfrm>
            <a:off x="1047749" y="3033960"/>
            <a:ext cx="4853053" cy="29969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100"/>
              </a:lnSpc>
              <a:defRPr b="1">
                <a:solidFill>
                  <a:srgbClr val="16302B"/>
                </a:solidFill>
              </a:defRPr>
            </a:lvl1pPr>
          </a:lstStyle>
          <a:p>
            <a:pPr/>
            <a:r>
              <a:t>Website (MVP)</a:t>
            </a:r>
          </a:p>
        </p:txBody>
      </p:sp>
      <p:sp>
        <p:nvSpPr>
          <p:cNvPr id="183" name="Text 8"/>
          <p:cNvSpPr txBox="1"/>
          <p:nvPr/>
        </p:nvSpPr>
        <p:spPr>
          <a:xfrm>
            <a:off x="1145032" y="3409851"/>
            <a:ext cx="4748150" cy="102096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marL="156718" indent="-156718">
              <a:lnSpc>
                <a:spcPts val="1900"/>
              </a:lnSpc>
              <a:buSzPct val="100000"/>
              <a:buChar char="•"/>
              <a:defRPr sz="1400">
                <a:solidFill>
                  <a:schemeClr val="accent4"/>
                </a:solidFill>
              </a:defRPr>
            </a:pPr>
            <a:r>
              <a:t>Live air quality and history charts</a:t>
            </a:r>
            <a:endParaRPr>
              <a:solidFill>
                <a:srgbClr val="F5F2E9"/>
              </a:solidFill>
            </a:endParaRPr>
          </a:p>
          <a:p>
            <a:pPr marL="156718" indent="-156718">
              <a:lnSpc>
                <a:spcPts val="1900"/>
              </a:lnSpc>
              <a:buSzPct val="100000"/>
              <a:buChar char="•"/>
              <a:defRPr sz="1400">
                <a:solidFill>
                  <a:schemeClr val="accent4"/>
                </a:solidFill>
              </a:defRPr>
            </a:pPr>
            <a:r>
              <a:t>Solar output and battery level</a:t>
            </a:r>
            <a:endParaRPr>
              <a:solidFill>
                <a:srgbClr val="F5F2E9"/>
              </a:solidFill>
            </a:endParaRPr>
          </a:p>
          <a:p>
            <a:pPr marL="156718" indent="-156718">
              <a:lnSpc>
                <a:spcPts val="1900"/>
              </a:lnSpc>
              <a:buSzPct val="100000"/>
              <a:buChar char="•"/>
              <a:defRPr sz="1400">
                <a:solidFill>
                  <a:schemeClr val="accent4"/>
                </a:solidFill>
              </a:defRPr>
            </a:pPr>
            <a:r>
              <a:t>Impact counters, labeled measured or estimated</a:t>
            </a:r>
            <a:endParaRPr>
              <a:solidFill>
                <a:srgbClr val="F5F2E9"/>
              </a:solidFill>
            </a:endParaRPr>
          </a:p>
          <a:p>
            <a:pPr marL="156718" indent="-156718">
              <a:lnSpc>
                <a:spcPts val="1900"/>
              </a:lnSpc>
              <a:buSzPct val="100000"/>
              <a:buChar char="•"/>
              <a:defRPr sz="1400">
                <a:solidFill>
                  <a:schemeClr val="accent4"/>
                </a:solidFill>
              </a:defRPr>
            </a:pPr>
            <a:r>
              <a:t>Map, about page and sponsor contact</a:t>
            </a:r>
          </a:p>
        </p:txBody>
      </p:sp>
      <p:sp>
        <p:nvSpPr>
          <p:cNvPr id="184" name="Shape 9"/>
          <p:cNvSpPr/>
          <p:nvPr/>
        </p:nvSpPr>
        <p:spPr>
          <a:xfrm>
            <a:off x="6200775" y="2802185"/>
            <a:ext cx="5175250" cy="1835002"/>
          </a:xfrm>
          <a:prstGeom prst="roundRect">
            <a:avLst>
              <a:gd name="adj" fmla="val 5364"/>
            </a:avLst>
          </a:prstGeom>
          <a:solidFill>
            <a:srgbClr val="FBFAF5"/>
          </a:solidFill>
          <a:ln w="6350">
            <a:solidFill>
              <a:srgbClr val="D3CCB8"/>
            </a:solidFill>
          </a:ln>
        </p:spPr>
        <p:txBody>
          <a:bodyPr lIns="45719" rIns="45719"/>
          <a:lstStyle/>
          <a:p>
            <a:pPr>
              <a:defRPr>
                <a:solidFill>
                  <a:srgbClr val="F5F2E9"/>
                </a:solidFill>
              </a:defRPr>
            </a:pPr>
          </a:p>
        </p:txBody>
      </p:sp>
      <p:sp>
        <p:nvSpPr>
          <p:cNvPr id="185" name="Text 10"/>
          <p:cNvSpPr txBox="1"/>
          <p:nvPr/>
        </p:nvSpPr>
        <p:spPr>
          <a:xfrm>
            <a:off x="6432549" y="3033960"/>
            <a:ext cx="4853053" cy="29969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100"/>
              </a:lnSpc>
              <a:defRPr b="1">
                <a:solidFill>
                  <a:srgbClr val="16302B"/>
                </a:solidFill>
              </a:defRPr>
            </a:lvl1pPr>
          </a:lstStyle>
          <a:p>
            <a:pPr/>
            <a:r>
              <a:t>Apps (later)</a:t>
            </a:r>
          </a:p>
        </p:txBody>
      </p:sp>
      <p:sp>
        <p:nvSpPr>
          <p:cNvPr id="186" name="Text 11"/>
          <p:cNvSpPr txBox="1"/>
          <p:nvPr/>
        </p:nvSpPr>
        <p:spPr>
          <a:xfrm>
            <a:off x="6529831" y="3409851"/>
            <a:ext cx="4748150" cy="102096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marL="156718" indent="-156718">
              <a:lnSpc>
                <a:spcPts val="1900"/>
              </a:lnSpc>
              <a:buSzPct val="100000"/>
              <a:buChar char="•"/>
              <a:defRPr sz="1400">
                <a:solidFill>
                  <a:schemeClr val="accent4"/>
                </a:solidFill>
              </a:defRPr>
            </a:pPr>
            <a:r>
              <a:t>Air alerts by push notification</a:t>
            </a:r>
            <a:endParaRPr>
              <a:solidFill>
                <a:srgbClr val="F5F2E9"/>
              </a:solidFill>
            </a:endParaRPr>
          </a:p>
          <a:p>
            <a:pPr marL="156718" indent="-156718">
              <a:lnSpc>
                <a:spcPts val="1900"/>
              </a:lnSpc>
              <a:buSzPct val="100000"/>
              <a:buChar char="•"/>
              <a:defRPr sz="1400">
                <a:solidFill>
                  <a:schemeClr val="accent4"/>
                </a:solidFill>
              </a:defRPr>
            </a:pPr>
            <a:r>
              <a:t>Find shade, charging and clean-air spots</a:t>
            </a:r>
            <a:endParaRPr>
              <a:solidFill>
                <a:srgbClr val="F5F2E9"/>
              </a:solidFill>
            </a:endParaRPr>
          </a:p>
          <a:p>
            <a:pPr marL="156718" indent="-156718">
              <a:lnSpc>
                <a:spcPts val="1900"/>
              </a:lnSpc>
              <a:buSzPct val="100000"/>
              <a:buChar char="•"/>
              <a:defRPr sz="1400">
                <a:solidFill>
                  <a:schemeClr val="accent4"/>
                </a:solidFill>
              </a:defRPr>
            </a:pPr>
            <a:r>
              <a:t>City-wide air map from many trees</a:t>
            </a:r>
            <a:endParaRPr>
              <a:solidFill>
                <a:srgbClr val="F5F2E9"/>
              </a:solidFill>
            </a:endParaRPr>
          </a:p>
          <a:p>
            <a:pPr marL="156718" indent="-156718">
              <a:lnSpc>
                <a:spcPts val="1900"/>
              </a:lnSpc>
              <a:buSzPct val="100000"/>
              <a:buChar char="•"/>
              <a:defRPr sz="1400">
                <a:solidFill>
                  <a:schemeClr val="accent4"/>
                </a:solidFill>
              </a:defRPr>
            </a:pPr>
            <a:r>
              <a:t>Maintenance reports from residents</a:t>
            </a:r>
          </a:p>
        </p:txBody>
      </p:sp>
      <p:sp>
        <p:nvSpPr>
          <p:cNvPr id="187" name="Text 13"/>
          <p:cNvSpPr txBox="1"/>
          <p:nvPr/>
        </p:nvSpPr>
        <p:spPr>
          <a:xfrm>
            <a:off x="10058400" y="6238280"/>
            <a:ext cx="1320800"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gn="r">
              <a:lnSpc>
                <a:spcPts val="1600"/>
              </a:lnSpc>
              <a:defRPr sz="1200">
                <a:solidFill>
                  <a:schemeClr val="accent5"/>
                </a:solidFill>
              </a:defRPr>
            </a:lvl1pPr>
          </a:lstStyle>
          <a:p>
            <a:pPr/>
            <a:r>
              <a:t>08</a:t>
            </a:r>
          </a:p>
        </p:txBody>
      </p:sp>
      <p:pic>
        <p:nvPicPr>
          <p:cNvPr id="188" name="arbora-logo.svg" descr="arbora-logo.svg"/>
          <p:cNvPicPr>
            <a:picLocks noChangeAspect="1"/>
          </p:cNvPicPr>
          <p:nvPr/>
        </p:nvPicPr>
        <p:blipFill>
          <a:blip r:embed="rId4">
            <a:extLst/>
          </a:blip>
          <a:stretch>
            <a:fillRect/>
          </a:stretch>
        </p:blipFill>
        <p:spPr>
          <a:xfrm>
            <a:off x="631077" y="5778500"/>
            <a:ext cx="2082801" cy="874777"/>
          </a:xfrm>
          <a:prstGeom prst="rect">
            <a:avLst/>
          </a:prstGeom>
          <a:ln w="12700">
            <a:miter lim="400000"/>
          </a:ln>
        </p:spPr>
      </p:pic>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EAE5D6"/>
        </a:solidFill>
      </p:bgPr>
    </p:bg>
    <p:spTree>
      <p:nvGrpSpPr>
        <p:cNvPr id="1" name=""/>
        <p:cNvGrpSpPr/>
        <p:nvPr/>
      </p:nvGrpSpPr>
      <p:grpSpPr>
        <a:xfrm>
          <a:off x="0" y="0"/>
          <a:ext cx="0" cy="0"/>
          <a:chOff x="0" y="0"/>
          <a:chExt cx="0" cy="0"/>
        </a:xfrm>
      </p:grpSpPr>
      <p:sp>
        <p:nvSpPr>
          <p:cNvPr id="192" name="Text 0"/>
          <p:cNvSpPr txBox="1"/>
          <p:nvPr/>
        </p:nvSpPr>
        <p:spPr>
          <a:xfrm>
            <a:off x="812799" y="812800"/>
            <a:ext cx="10883394" cy="23872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pc="100" sz="1200">
                <a:solidFill>
                  <a:schemeClr val="accent2"/>
                </a:solidFill>
              </a:defRPr>
            </a:lvl1pPr>
          </a:lstStyle>
          <a:p>
            <a:pPr/>
            <a:r>
              <a:t>ROADMAP</a:t>
            </a:r>
          </a:p>
        </p:txBody>
      </p:sp>
      <p:sp>
        <p:nvSpPr>
          <p:cNvPr id="193" name="Text 1"/>
          <p:cNvSpPr txBox="1"/>
          <p:nvPr>
            <p:ph type="title"/>
          </p:nvPr>
        </p:nvSpPr>
        <p:spPr>
          <a:xfrm>
            <a:off x="812799" y="1280120"/>
            <a:ext cx="10883394" cy="472430"/>
          </a:xfrm>
          <a:prstGeom prst="rect">
            <a:avLst/>
          </a:prstGeom>
        </p:spPr>
        <p:txBody>
          <a:bodyPr/>
          <a:lstStyle>
            <a:lvl1pPr>
              <a:lnSpc>
                <a:spcPts val="3500"/>
              </a:lnSpc>
              <a:defRPr b="1">
                <a:solidFill>
                  <a:srgbClr val="16302B"/>
                </a:solidFill>
              </a:defRPr>
            </a:lvl1pPr>
          </a:lstStyle>
          <a:p>
            <a:pPr/>
            <a:r>
              <a:t>From MVP to full Arbora</a:t>
            </a:r>
          </a:p>
        </p:txBody>
      </p:sp>
      <p:sp>
        <p:nvSpPr>
          <p:cNvPr id="194" name="Shape 2"/>
          <p:cNvSpPr/>
          <p:nvPr/>
        </p:nvSpPr>
        <p:spPr>
          <a:xfrm>
            <a:off x="812800" y="1981150"/>
            <a:ext cx="3412034" cy="2029272"/>
          </a:xfrm>
          <a:prstGeom prst="roundRect">
            <a:avLst>
              <a:gd name="adj" fmla="val 5007"/>
            </a:avLst>
          </a:prstGeom>
          <a:solidFill>
            <a:srgbClr val="16302B"/>
          </a:solidFill>
          <a:ln w="12700">
            <a:miter lim="400000"/>
          </a:ln>
        </p:spPr>
        <p:txBody>
          <a:bodyPr lIns="45719" rIns="45719"/>
          <a:lstStyle/>
          <a:p>
            <a:pPr>
              <a:defRPr>
                <a:solidFill>
                  <a:srgbClr val="F5F2E9"/>
                </a:solidFill>
              </a:defRPr>
            </a:pPr>
          </a:p>
        </p:txBody>
      </p:sp>
      <p:sp>
        <p:nvSpPr>
          <p:cNvPr id="195" name="Text 3"/>
          <p:cNvSpPr txBox="1"/>
          <p:nvPr/>
        </p:nvSpPr>
        <p:spPr>
          <a:xfrm>
            <a:off x="1041400" y="2209750"/>
            <a:ext cx="3043479"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z="1200">
                <a:solidFill>
                  <a:schemeClr val="accent1"/>
                </a:solidFill>
              </a:defRPr>
            </a:lvl1pPr>
          </a:lstStyle>
          <a:p>
            <a:pPr/>
            <a:r>
              <a:t>Version 1 · MVP</a:t>
            </a:r>
          </a:p>
        </p:txBody>
      </p:sp>
      <p:sp>
        <p:nvSpPr>
          <p:cNvPr id="196" name="Text 4"/>
          <p:cNvSpPr txBox="1"/>
          <p:nvPr/>
        </p:nvSpPr>
        <p:spPr>
          <a:xfrm>
            <a:off x="1138682" y="2524671"/>
            <a:ext cx="2938578" cy="102096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marL="156718" indent="-156718">
              <a:lnSpc>
                <a:spcPts val="1900"/>
              </a:lnSpc>
              <a:buSzPct val="100000"/>
              <a:buChar char="•"/>
              <a:defRPr sz="1400">
                <a:solidFill>
                  <a:srgbClr val="F5F2E9"/>
                </a:solidFill>
              </a:defRPr>
            </a:pPr>
            <a:r>
              <a:t>Custom canopy design</a:t>
            </a:r>
          </a:p>
          <a:p>
            <a:pPr marL="156718" indent="-156718">
              <a:lnSpc>
                <a:spcPts val="1900"/>
              </a:lnSpc>
              <a:buSzPct val="100000"/>
              <a:buChar char="•"/>
              <a:defRPr sz="1400">
                <a:solidFill>
                  <a:srgbClr val="F5F2E9"/>
                </a:solidFill>
              </a:defRPr>
            </a:pPr>
            <a:r>
              <a:t>Sensors and website</a:t>
            </a:r>
          </a:p>
          <a:p>
            <a:pPr marL="156718" indent="-156718">
              <a:lnSpc>
                <a:spcPts val="1900"/>
              </a:lnSpc>
              <a:buSzPct val="100000"/>
              <a:buChar char="•"/>
              <a:defRPr sz="1400">
                <a:solidFill>
                  <a:srgbClr val="F5F2E9"/>
                </a:solidFill>
              </a:defRPr>
            </a:pPr>
            <a:r>
              <a:t>Solar power and benches</a:t>
            </a:r>
          </a:p>
          <a:p>
            <a:pPr marL="156718" indent="-156718">
              <a:lnSpc>
                <a:spcPts val="1900"/>
              </a:lnSpc>
              <a:buSzPct val="100000"/>
              <a:buChar char="•"/>
              <a:defRPr sz="1400">
                <a:solidFill>
                  <a:srgbClr val="F5F2E9"/>
                </a:solidFill>
              </a:defRPr>
            </a:pPr>
            <a:r>
              <a:t>Algae and plants</a:t>
            </a:r>
          </a:p>
        </p:txBody>
      </p:sp>
      <p:sp>
        <p:nvSpPr>
          <p:cNvPr id="197" name="Shape 5"/>
          <p:cNvSpPr/>
          <p:nvPr/>
        </p:nvSpPr>
        <p:spPr>
          <a:xfrm>
            <a:off x="4380408" y="1984325"/>
            <a:ext cx="3418434" cy="2022922"/>
          </a:xfrm>
          <a:prstGeom prst="roundRect">
            <a:avLst>
              <a:gd name="adj" fmla="val 4865"/>
            </a:avLst>
          </a:prstGeom>
          <a:solidFill>
            <a:srgbClr val="FBFAF5"/>
          </a:solidFill>
          <a:ln w="6350">
            <a:solidFill>
              <a:srgbClr val="D3CCB8"/>
            </a:solidFill>
          </a:ln>
        </p:spPr>
        <p:txBody>
          <a:bodyPr lIns="45719" rIns="45719"/>
          <a:lstStyle/>
          <a:p>
            <a:pPr>
              <a:defRPr>
                <a:solidFill>
                  <a:srgbClr val="F5F2E9"/>
                </a:solidFill>
              </a:defRPr>
            </a:pPr>
          </a:p>
        </p:txBody>
      </p:sp>
      <p:sp>
        <p:nvSpPr>
          <p:cNvPr id="198" name="Text 6"/>
          <p:cNvSpPr txBox="1"/>
          <p:nvPr/>
        </p:nvSpPr>
        <p:spPr>
          <a:xfrm>
            <a:off x="4612183" y="2216100"/>
            <a:ext cx="3043532"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z="1200">
                <a:solidFill>
                  <a:schemeClr val="accent2"/>
                </a:solidFill>
              </a:defRPr>
            </a:lvl1pPr>
          </a:lstStyle>
          <a:p>
            <a:pPr/>
            <a:r>
              <a:t>Version 2</a:t>
            </a:r>
          </a:p>
        </p:txBody>
      </p:sp>
      <p:sp>
        <p:nvSpPr>
          <p:cNvPr id="199" name="Text 7"/>
          <p:cNvSpPr txBox="1"/>
          <p:nvPr/>
        </p:nvSpPr>
        <p:spPr>
          <a:xfrm>
            <a:off x="4709466" y="2531021"/>
            <a:ext cx="2938629" cy="102096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marL="156718" indent="-156718">
              <a:lnSpc>
                <a:spcPts val="1900"/>
              </a:lnSpc>
              <a:buSzPct val="100000"/>
              <a:buChar char="•"/>
              <a:defRPr sz="1400">
                <a:solidFill>
                  <a:schemeClr val="accent4"/>
                </a:solidFill>
              </a:defRPr>
            </a:pPr>
            <a:r>
              <a:t>Sorbent CO₂ capture feeding the algae</a:t>
            </a:r>
            <a:endParaRPr>
              <a:solidFill>
                <a:srgbClr val="F5F2E9"/>
              </a:solidFill>
            </a:endParaRPr>
          </a:p>
          <a:p>
            <a:pPr marL="156718" indent="-156718">
              <a:lnSpc>
                <a:spcPts val="1900"/>
              </a:lnSpc>
              <a:buSzPct val="100000"/>
              <a:buChar char="•"/>
              <a:defRPr sz="1400">
                <a:solidFill>
                  <a:schemeClr val="accent4"/>
                </a:solidFill>
              </a:defRPr>
            </a:pPr>
            <a:r>
              <a:t>Cooling zone with misting</a:t>
            </a:r>
            <a:endParaRPr>
              <a:solidFill>
                <a:srgbClr val="F5F2E9"/>
              </a:solidFill>
            </a:endParaRPr>
          </a:p>
          <a:p>
            <a:pPr marL="156718" indent="-156718">
              <a:lnSpc>
                <a:spcPts val="1900"/>
              </a:lnSpc>
              <a:buSzPct val="100000"/>
              <a:buChar char="•"/>
              <a:defRPr sz="1400">
                <a:solidFill>
                  <a:schemeClr val="accent4"/>
                </a:solidFill>
              </a:defRPr>
            </a:pPr>
            <a:r>
              <a:t>Mobile app and alerts</a:t>
            </a:r>
          </a:p>
        </p:txBody>
      </p:sp>
      <p:sp>
        <p:nvSpPr>
          <p:cNvPr id="200" name="Shape 8"/>
          <p:cNvSpPr/>
          <p:nvPr/>
        </p:nvSpPr>
        <p:spPr>
          <a:xfrm>
            <a:off x="7957591" y="1984325"/>
            <a:ext cx="3418434" cy="2022922"/>
          </a:xfrm>
          <a:prstGeom prst="roundRect">
            <a:avLst>
              <a:gd name="adj" fmla="val 4865"/>
            </a:avLst>
          </a:prstGeom>
          <a:solidFill>
            <a:srgbClr val="FBFAF5"/>
          </a:solidFill>
          <a:ln w="6350">
            <a:solidFill>
              <a:srgbClr val="D3CCB8"/>
            </a:solidFill>
          </a:ln>
        </p:spPr>
        <p:txBody>
          <a:bodyPr lIns="45719" rIns="45719"/>
          <a:lstStyle/>
          <a:p>
            <a:pPr>
              <a:defRPr>
                <a:solidFill>
                  <a:srgbClr val="F5F2E9"/>
                </a:solidFill>
              </a:defRPr>
            </a:pPr>
          </a:p>
        </p:txBody>
      </p:sp>
      <p:sp>
        <p:nvSpPr>
          <p:cNvPr id="201" name="Text 9"/>
          <p:cNvSpPr txBox="1"/>
          <p:nvPr/>
        </p:nvSpPr>
        <p:spPr>
          <a:xfrm>
            <a:off x="8189366" y="2216100"/>
            <a:ext cx="3043531"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600"/>
              </a:lnSpc>
              <a:defRPr b="1" sz="1200">
                <a:solidFill>
                  <a:schemeClr val="accent2"/>
                </a:solidFill>
              </a:defRPr>
            </a:lvl1pPr>
          </a:lstStyle>
          <a:p>
            <a:pPr/>
            <a:r>
              <a:t>Version 3 · Research</a:t>
            </a:r>
          </a:p>
        </p:txBody>
      </p:sp>
      <p:sp>
        <p:nvSpPr>
          <p:cNvPr id="202" name="Text 10"/>
          <p:cNvSpPr txBox="1"/>
          <p:nvPr/>
        </p:nvSpPr>
        <p:spPr>
          <a:xfrm>
            <a:off x="8286649" y="2531021"/>
            <a:ext cx="2938629" cy="126985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marL="156718" indent="-156718">
              <a:lnSpc>
                <a:spcPts val="1900"/>
              </a:lnSpc>
              <a:buSzPct val="100000"/>
              <a:buChar char="•"/>
              <a:defRPr sz="1400">
                <a:solidFill>
                  <a:schemeClr val="accent4"/>
                </a:solidFill>
              </a:defRPr>
            </a:pPr>
            <a:r>
              <a:t>Artificial photosynthesis: gallium-indium (ground)</a:t>
            </a:r>
            <a:endParaRPr>
              <a:solidFill>
                <a:srgbClr val="F5F2E9"/>
              </a:solidFill>
            </a:endParaRPr>
          </a:p>
          <a:p>
            <a:pPr marL="156718" indent="-156718">
              <a:lnSpc>
                <a:spcPts val="1900"/>
              </a:lnSpc>
              <a:buSzPct val="100000"/>
              <a:buChar char="•"/>
              <a:defRPr sz="1400">
                <a:solidFill>
                  <a:schemeClr val="accent4"/>
                </a:solidFill>
              </a:defRPr>
            </a:pPr>
            <a:r>
              <a:t>Cobalt oxide and nickel-iron phosphate (sea)</a:t>
            </a:r>
            <a:endParaRPr>
              <a:solidFill>
                <a:srgbClr val="F5F2E9"/>
              </a:solidFill>
            </a:endParaRPr>
          </a:p>
          <a:p>
            <a:pPr marL="156718" indent="-156718">
              <a:lnSpc>
                <a:spcPts val="1900"/>
              </a:lnSpc>
              <a:buSzPct val="100000"/>
              <a:buChar char="•"/>
              <a:defRPr sz="1400">
                <a:solidFill>
                  <a:schemeClr val="accent4"/>
                </a:solidFill>
              </a:defRPr>
            </a:pPr>
            <a:r>
              <a:t>Day and night origami forms</a:t>
            </a:r>
          </a:p>
        </p:txBody>
      </p:sp>
      <p:sp>
        <p:nvSpPr>
          <p:cNvPr id="203" name="Text 11"/>
          <p:cNvSpPr txBox="1"/>
          <p:nvPr/>
        </p:nvSpPr>
        <p:spPr>
          <a:xfrm>
            <a:off x="812800" y="4264421"/>
            <a:ext cx="9810750" cy="30986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200"/>
              </a:lnSpc>
              <a:defRPr sz="1600">
                <a:solidFill>
                  <a:srgbClr val="16302B"/>
                </a:solidFill>
              </a:defRPr>
            </a:lvl1pPr>
          </a:lstStyle>
          <a:p>
            <a:pPr/>
            <a:r>
              <a:t>Next step: pilot one tree, measure real data, then scale.</a:t>
            </a:r>
          </a:p>
        </p:txBody>
      </p:sp>
      <p:sp>
        <p:nvSpPr>
          <p:cNvPr id="204" name="Text 13"/>
          <p:cNvSpPr txBox="1"/>
          <p:nvPr/>
        </p:nvSpPr>
        <p:spPr>
          <a:xfrm>
            <a:off x="10058400" y="6238280"/>
            <a:ext cx="1320800" cy="2387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gn="r">
              <a:lnSpc>
                <a:spcPts val="1600"/>
              </a:lnSpc>
              <a:defRPr sz="1200">
                <a:solidFill>
                  <a:schemeClr val="accent5"/>
                </a:solidFill>
              </a:defRPr>
            </a:lvl1pPr>
          </a:lstStyle>
          <a:p>
            <a:pPr/>
            <a:r>
              <a:t>11</a:t>
            </a:r>
          </a:p>
        </p:txBody>
      </p:sp>
      <p:pic>
        <p:nvPicPr>
          <p:cNvPr id="205" name="arbora-logo.svg" descr="arbora-logo.svg"/>
          <p:cNvPicPr>
            <a:picLocks noChangeAspect="1"/>
          </p:cNvPicPr>
          <p:nvPr/>
        </p:nvPicPr>
        <p:blipFill>
          <a:blip r:embed="rId3">
            <a:extLst/>
          </a:blip>
          <a:stretch>
            <a:fillRect/>
          </a:stretch>
        </p:blipFill>
        <p:spPr>
          <a:xfrm>
            <a:off x="631077" y="5778500"/>
            <a:ext cx="2082801" cy="874777"/>
          </a:xfrm>
          <a:prstGeom prst="rect">
            <a:avLst/>
          </a:prstGeom>
          <a:ln w="12700">
            <a:miter lim="400000"/>
          </a:ln>
        </p:spPr>
      </p:pic>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9" name="Text 0"/>
          <p:cNvSpPr txBox="1"/>
          <p:nvPr/>
        </p:nvSpPr>
        <p:spPr>
          <a:xfrm>
            <a:off x="812799" y="812800"/>
            <a:ext cx="10883394" cy="27429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1900"/>
              </a:lnSpc>
              <a:defRPr b="1" spc="200" sz="1400">
                <a:solidFill>
                  <a:schemeClr val="accent1"/>
                </a:solidFill>
              </a:defRPr>
            </a:lvl1pPr>
          </a:lstStyle>
          <a:p>
            <a:pPr/>
            <a:r>
              <a:t>ARBORA</a:t>
            </a:r>
          </a:p>
        </p:txBody>
      </p:sp>
      <p:sp>
        <p:nvSpPr>
          <p:cNvPr id="210" name="Text 1"/>
          <p:cNvSpPr txBox="1"/>
          <p:nvPr>
            <p:ph type="title"/>
          </p:nvPr>
        </p:nvSpPr>
        <p:spPr>
          <a:xfrm>
            <a:off x="812800" y="2496889"/>
            <a:ext cx="7848600" cy="1366442"/>
          </a:xfrm>
          <a:prstGeom prst="rect">
            <a:avLst/>
          </a:prstGeom>
        </p:spPr>
        <p:txBody>
          <a:bodyPr/>
          <a:lstStyle>
            <a:lvl1pPr>
              <a:lnSpc>
                <a:spcPts val="5200"/>
              </a:lnSpc>
              <a:defRPr b="1" sz="4800"/>
            </a:lvl1pPr>
          </a:lstStyle>
          <a:p>
            <a:pPr/>
            <a:r>
              <a:t>Clean power, clean data, cooler streets</a:t>
            </a:r>
          </a:p>
        </p:txBody>
      </p:sp>
      <p:sp>
        <p:nvSpPr>
          <p:cNvPr id="211" name="Text 2"/>
          <p:cNvSpPr txBox="1"/>
          <p:nvPr/>
        </p:nvSpPr>
        <p:spPr>
          <a:xfrm>
            <a:off x="812800" y="4041130"/>
            <a:ext cx="7848600" cy="34543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ts val="2500"/>
              </a:lnSpc>
              <a:defRPr>
                <a:solidFill>
                  <a:srgbClr val="CFE0DA"/>
                </a:solidFill>
              </a:defRPr>
            </a:lvl1pPr>
          </a:lstStyle>
          <a:p>
            <a:pPr/>
            <a:r>
              <a:t>We want clean world</a:t>
            </a:r>
          </a:p>
        </p:txBody>
      </p:sp>
      <p:sp>
        <p:nvSpPr>
          <p:cNvPr id="212" name="Text 3"/>
          <p:cNvSpPr txBox="1"/>
          <p:nvPr/>
        </p:nvSpPr>
        <p:spPr>
          <a:xfrm>
            <a:off x="812799" y="6246912"/>
            <a:ext cx="10883394" cy="27429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a:lnSpc>
                <a:spcPts val="1900"/>
              </a:lnSpc>
              <a:defRPr sz="1400">
                <a:solidFill>
                  <a:schemeClr val="accent6"/>
                </a:solidFill>
              </a:defRPr>
            </a:pPr>
            <a:r>
              <a:t>Ali Kubatbaev, </a:t>
            </a:r>
            <a:r>
              <a:rPr u="sng">
                <a:solidFill>
                  <a:srgbClr val="0563C1"/>
                </a:solidFill>
                <a:uFill>
                  <a:solidFill>
                    <a:srgbClr val="0563C1"/>
                  </a:solidFill>
                </a:uFill>
                <a:hlinkClick r:id="rId3" invalidUrl="" action="" tgtFrame="" tooltip="" history="1" highlightClick="0" endSnd="0"/>
              </a:rPr>
              <a:t>ali.kubatbaev1@gmail.com</a:t>
            </a:r>
          </a:p>
        </p:txBody>
      </p:sp>
      <p:pic>
        <p:nvPicPr>
          <p:cNvPr id="213" name="arbora-mark.svg" descr="arbora-mark.svg"/>
          <p:cNvPicPr>
            <a:picLocks noChangeAspect="1"/>
          </p:cNvPicPr>
          <p:nvPr/>
        </p:nvPicPr>
        <p:blipFill>
          <a:blip r:embed="rId4">
            <a:extLst/>
          </a:blip>
          <a:stretch>
            <a:fillRect/>
          </a:stretch>
        </p:blipFill>
        <p:spPr>
          <a:xfrm>
            <a:off x="8370015" y="1692063"/>
            <a:ext cx="2976092" cy="2976093"/>
          </a:xfrm>
          <a:prstGeom prst="rect">
            <a:avLst/>
          </a:prstGeom>
          <a:ln w="12700">
            <a:miter lim="400000"/>
          </a:ln>
        </p:spPr>
      </p:pic>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Arbora Smart Solar Tree">
  <a:themeElements>
    <a:clrScheme name="Arbora Smart Solar Tree">
      <a:dk1>
        <a:srgbClr val="0F2D28"/>
      </a:dk1>
      <a:lt1>
        <a:srgbClr val="0F2D28"/>
      </a:lt1>
      <a:dk2>
        <a:srgbClr val="A7A7A7"/>
      </a:dk2>
      <a:lt2>
        <a:srgbClr val="535353"/>
      </a:lt2>
      <a:accent1>
        <a:srgbClr val="E9A23B"/>
      </a:accent1>
      <a:accent2>
        <a:srgbClr val="1E7A6B"/>
      </a:accent2>
      <a:accent3>
        <a:srgbClr val="2A9D8A"/>
      </a:accent3>
      <a:accent4>
        <a:srgbClr val="4F605B"/>
      </a:accent4>
      <a:accent5>
        <a:srgbClr val="5B6B66"/>
      </a:accent5>
      <a:accent6>
        <a:srgbClr val="A9C2BB"/>
      </a:accent6>
      <a:hlink>
        <a:srgbClr val="0000FF"/>
      </a:hlink>
      <a:folHlink>
        <a:srgbClr val="FF00FF"/>
      </a:folHlink>
    </a:clrScheme>
    <a:fontScheme name="Arbora Smart Solar Tree">
      <a:majorFont>
        <a:latin typeface="Arial"/>
        <a:ea typeface="Arial"/>
        <a:cs typeface="Arial"/>
      </a:majorFont>
      <a:minorFont>
        <a:latin typeface="Helvetica"/>
        <a:ea typeface="Helvetica"/>
        <a:cs typeface="Helvetica"/>
      </a:minorFont>
    </a:fontScheme>
    <a:fmtScheme name="Arbora Smart Solar Tre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5F2E9"/>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F2D28"/>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F2D28"/>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Arbora Smart Solar Tree">
  <a:themeElements>
    <a:clrScheme name="Arbora Smart Solar Tree">
      <a:dk1>
        <a:srgbClr val="0F2D28"/>
      </a:dk1>
      <a:lt1>
        <a:srgbClr val="2D1E21"/>
      </a:lt1>
      <a:dk2>
        <a:srgbClr val="A7A7A7"/>
      </a:dk2>
      <a:lt2>
        <a:srgbClr val="535353"/>
      </a:lt2>
      <a:accent1>
        <a:srgbClr val="E9A23B"/>
      </a:accent1>
      <a:accent2>
        <a:srgbClr val="1E7A6B"/>
      </a:accent2>
      <a:accent3>
        <a:srgbClr val="2A9D8A"/>
      </a:accent3>
      <a:accent4>
        <a:srgbClr val="4F605B"/>
      </a:accent4>
      <a:accent5>
        <a:srgbClr val="5B6B66"/>
      </a:accent5>
      <a:accent6>
        <a:srgbClr val="A9C2BB"/>
      </a:accent6>
      <a:hlink>
        <a:srgbClr val="0000FF"/>
      </a:hlink>
      <a:folHlink>
        <a:srgbClr val="FF00FF"/>
      </a:folHlink>
    </a:clrScheme>
    <a:fontScheme name="Arbora Smart Solar Tree">
      <a:majorFont>
        <a:latin typeface="Arial"/>
        <a:ea typeface="Arial"/>
        <a:cs typeface="Arial"/>
      </a:majorFont>
      <a:minorFont>
        <a:latin typeface="Helvetica"/>
        <a:ea typeface="Helvetica"/>
        <a:cs typeface="Helvetica"/>
      </a:minorFont>
    </a:fontScheme>
    <a:fmtScheme name="Arbora Smart Solar Tre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5F2E9"/>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F2D28"/>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F2D28"/>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