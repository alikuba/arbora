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idea: Arbora is a solar-powered smart tree for cities. It generates clean power, measures the air, removes some CO₂ with algae and plants, and gives shade and charging. Introduce the team and the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everyday gaps in public space: air nobody measures locally, heat with no shade, and no power outdoors. Arbora addresses all three in one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combine four things cities usually buy separately. Power, air monitoring, CO₂ removal, and public comfort. The custom design means the canopy can take many shapes and carry local or sponsor branding.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MVP we can build and show now. The advanced chemistry, air conditioning and origami transformations stay on the roadmap. A 400 to 600 W array is enough for the electronics alone if the budget is tight.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mechanism simply. CO₂ dissolves in water, algae fix it through photosynthesis and release oxygen. Be upfront that harvesting is what makes it a real removal. Air is only about 0.04 percent CO₂, so growth is slow; feeding in captured CO₂ later would speed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what is removal and what is avoided emissions. Removal by algae and plants is about 25 to 85 kg of CO₂ a year, roughly one to four mature trees at 20 to 25 kg each. Solar adds avoided emissions on top, which depend on the local grid. These are estimates and the sensors on the tree will replace them with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pitch. The strongest benefits are measured local air data, shade, charging and awareness. A network of trees becomes a dense, low-cost monitoring grid, which most cities 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sends its readings to a cloud database every minute or so, and the website reads from it. The apps can start as an installable web app, so there is no need to build separate iOS and Android versions first. Real, measured data makes the environmental claims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can be built by the team for roughly 2,400 to 5,600 dollars in hardware. A professional version is 10,000 to 25,000. At pilot scale the unit could sell for 12,000 to 18,000, falling toward 8,000 to 12,000 with volume. A lease with a sponsor’s brand is easier for a city or company to approve than a large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Cities buy through public procurement, companies through sponsorship. A hot summer makes a branded cooling spot attractive to a café or mall. The data service becomes more valuable as more trees join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is what we show today. Version 2 adds the heavier modules once the electronics and data pipeline work. Version 3 is the research tier: the gallium-indium and cobalt and nickel-iron catalysts are promising in lab research but not yet proven at street scale, so they stay a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promise, then the specific ask. Replace the bracketed text with what you want from the jury, for example a funding amount, a pilot location or mentoring, and your contact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2D2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F5F2E9"/>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50"/>
            <a:ext cx="10566400" cy="4013250"/>
          </a:xfrm>
          <a:prstGeom prst="rect">
            <a:avLst/>
          </a:prstGeom>
          <a:noFill/>
          <a:ln/>
        </p:spPr>
        <p:txBody>
          <a:bodyPr wrap="square" lIns="0" tIns="0" rIns="0" bIns="0" rtlCol="0" anchor="t"/>
          <a:lstStyle>
            <a:lvl1pPr algn="l" indent="0" marL="0">
              <a:lnSpc>
                <a:spcPct val="140000"/>
              </a:lnSpc>
              <a:buNone/>
              <a:defRPr lang="en-US" sz="1600" dirty="0">
                <a:solidFill>
                  <a:srgbClr val="F5F2E9"/>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2D2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F5F2E9"/>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50"/>
            <a:ext cx="10566400" cy="4013250"/>
          </a:xfrm>
          <a:prstGeom prst="rect">
            <a:avLst/>
          </a:prstGeom>
          <a:noFill/>
          <a:ln/>
        </p:spPr>
        <p:txBody>
          <a:bodyPr wrap="square" lIns="0" tIns="0" rIns="0" bIns="0" rtlCol="0" anchor="t"/>
          <a:lstStyle>
            <a:lvl1pPr algn="l" indent="0" marL="0">
              <a:lnSpc>
                <a:spcPct val="140000"/>
              </a:lnSpc>
              <a:buNone/>
              <a:defRPr lang="en-US" sz="1600" dirty="0">
                <a:solidFill>
                  <a:srgbClr val="F5F2E9"/>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2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620000" y="952500"/>
            <a:ext cx="3302000" cy="3302000"/>
          </a:xfrm>
          <a:prstGeom prst="rect">
            <a:avLst/>
          </a:prstGeom>
        </p:spPr>
      </p:pic>
      <p:pic>
        <p:nvPicPr>
          <p:cNvPr id="3" name="Image 1" descr="ellipse">    </p:cNvPr>
          <p:cNvPicPr>
            <a:picLocks noChangeAspect="1"/>
          </p:cNvPicPr>
          <p:nvPr/>
        </p:nvPicPr>
        <p:blipFill>
          <a:blip r:embed="rId2"/>
          <a:srcRect l="0" r="0" t="0" b="0"/>
          <a:stretch/>
        </p:blipFill>
        <p:spPr>
          <a:xfrm>
            <a:off x="9398000" y="3556000"/>
            <a:ext cx="1524000" cy="1524000"/>
          </a:xfrm>
          <a:prstGeom prst="rect">
            <a:avLst/>
          </a:prstGeom>
        </p:spPr>
      </p:pic>
      <p:sp>
        <p:nvSpPr>
          <p:cNvPr id="4"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9A23B"/>
                </a:solidFill>
                <a:latin typeface="Arial" pitchFamily="34" charset="0"/>
                <a:ea typeface="Arial" pitchFamily="34" charset="-122"/>
                <a:cs typeface="Arial" pitchFamily="34" charset="-120"/>
              </a:rPr>
              <a:t>SMART SOLAR TREE · MVP</a:t>
            </a:r>
            <a:endParaRPr lang="en-US" sz="1400" dirty="0"/>
          </a:p>
        </p:txBody>
      </p:sp>
      <p:sp>
        <p:nvSpPr>
          <p:cNvPr id="5" name="Text 1"/>
          <p:cNvSpPr/>
          <p:nvPr>
            <p:ph type="title"/>
          </p:nvPr>
        </p:nvSpPr>
        <p:spPr>
          <a:xfrm>
            <a:off x="812800" y="2387600"/>
            <a:ext cx="10883392" cy="1143000"/>
          </a:xfrm>
          <a:prstGeom prst="rect">
            <a:avLst/>
          </a:prstGeom>
          <a:noFill/>
          <a:ln/>
        </p:spPr>
        <p:txBody>
          <a:bodyPr wrap="square" lIns="0" tIns="0" rIns="0" bIns="0" rtlCol="0" anchor="t">
            <a:normAutofit/>
          </a:bodyPr>
          <a:lstStyle/>
          <a:p>
            <a:pPr algn="l" indent="0" marL="0">
              <a:lnSpc>
                <a:spcPts val="8800"/>
              </a:lnSpc>
              <a:buNone/>
            </a:pPr>
            <a:r>
              <a:rPr lang="en-US" sz="8800" b="1" i="0" dirty="0">
                <a:solidFill>
                  <a:srgbClr val="F5F2E9"/>
                </a:solidFill>
                <a:latin typeface="Arial" pitchFamily="34" charset="0"/>
                <a:ea typeface="Arial" pitchFamily="34" charset="-122"/>
                <a:cs typeface="Arial" pitchFamily="34" charset="-120"/>
              </a:rPr>
              <a:t>Arbora</a:t>
            </a:r>
            <a:endParaRPr lang="en-US" sz="8800" dirty="0"/>
          </a:p>
        </p:txBody>
      </p:sp>
      <p:sp>
        <p:nvSpPr>
          <p:cNvPr id="6" name="Text 2"/>
          <p:cNvSpPr/>
          <p:nvPr/>
        </p:nvSpPr>
        <p:spPr>
          <a:xfrm>
            <a:off x="812800" y="3708400"/>
            <a:ext cx="6540500"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CFE0DA"/>
                </a:solidFill>
                <a:latin typeface="Arial" pitchFamily="34" charset="0"/>
                <a:ea typeface="Arial" pitchFamily="34" charset="-122"/>
                <a:cs typeface="Arial" pitchFamily="34" charset="-120"/>
              </a:rPr>
              <a:t>A tree that powers, measures and cools your city.</a:t>
            </a:r>
            <a:endParaRPr lang="en-US" sz="2400" dirty="0"/>
          </a:p>
        </p:txBody>
      </p:sp>
      <p:sp>
        <p:nvSpPr>
          <p:cNvPr id="7"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2BB"/>
                </a:solidFill>
                <a:latin typeface="Arial" pitchFamily="34" charset="0"/>
                <a:ea typeface="Arial" pitchFamily="34" charset="-122"/>
                <a:cs typeface="Arial" pitchFamily="34" charset="-120"/>
              </a:rPr>
              <a:t>[Team name] · [Competition name]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E7A6B"/>
                </a:solidFill>
                <a:latin typeface="Arial" pitchFamily="34" charset="0"/>
                <a:ea typeface="Arial" pitchFamily="34" charset="-122"/>
                <a:cs typeface="Arial" pitchFamily="34" charset="-120"/>
              </a:rPr>
              <a:t>THE PROBLEM</a:t>
            </a:r>
            <a:endParaRPr lang="en-US" sz="1200" dirty="0"/>
          </a:p>
        </p:txBody>
      </p:sp>
      <p:sp>
        <p:nvSpPr>
          <p:cNvPr id="3" name="Text 1"/>
          <p:cNvSpPr/>
          <p:nvPr>
            <p:ph type="title"/>
          </p:nvPr>
        </p:nvSpPr>
        <p:spPr>
          <a:xfrm>
            <a:off x="812800" y="12801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302B"/>
                </a:solidFill>
                <a:latin typeface="Arial" pitchFamily="34" charset="0"/>
                <a:ea typeface="Arial" pitchFamily="34" charset="-122"/>
                <a:cs typeface="Arial" pitchFamily="34" charset="-120"/>
              </a:rPr>
              <a:t>Cities lack clean-air data, shade and public power at street level</a:t>
            </a:r>
            <a:endParaRPr lang="en-US" sz="3200" dirty="0"/>
          </a:p>
        </p:txBody>
      </p:sp>
      <p:sp>
        <p:nvSpPr>
          <p:cNvPr id="4" name="Shape 2"/>
          <p:cNvSpPr/>
          <p:nvPr/>
        </p:nvSpPr>
        <p:spPr>
          <a:xfrm>
            <a:off x="815975" y="2431355"/>
            <a:ext cx="3380284" cy="1916311"/>
          </a:xfrm>
          <a:prstGeom prst="roundRect">
            <a:avLst>
              <a:gd name="adj" fmla="val 5136"/>
            </a:avLst>
          </a:prstGeom>
          <a:solidFill>
            <a:srgbClr val="FBFAF5"/>
          </a:solidFill>
          <a:ln w="6350">
            <a:solidFill>
              <a:srgbClr val="DDD6C4"/>
            </a:solidFill>
            <a:prstDash val="solid"/>
          </a:ln>
        </p:spPr>
      </p:sp>
      <p:sp>
        <p:nvSpPr>
          <p:cNvPr id="5" name="Text 3"/>
          <p:cNvSpPr/>
          <p:nvPr/>
        </p:nvSpPr>
        <p:spPr>
          <a:xfrm>
            <a:off x="1073150" y="268853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302B"/>
                </a:solidFill>
                <a:latin typeface="Arial" pitchFamily="34" charset="0"/>
                <a:ea typeface="Arial" pitchFamily="34" charset="-122"/>
                <a:cs typeface="Arial" pitchFamily="34" charset="-120"/>
              </a:rPr>
              <a:t>Little local air data</a:t>
            </a:r>
            <a:endParaRPr lang="en-US" sz="2000" dirty="0"/>
          </a:p>
        </p:txBody>
      </p:sp>
      <p:sp>
        <p:nvSpPr>
          <p:cNvPr id="6" name="Text 4"/>
          <p:cNvSpPr/>
          <p:nvPr/>
        </p:nvSpPr>
        <p:spPr>
          <a:xfrm>
            <a:off x="1073150" y="3094930"/>
            <a:ext cx="2951912"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05B"/>
                </a:solidFill>
                <a:latin typeface="Arial" pitchFamily="34" charset="0"/>
                <a:ea typeface="Arial" pitchFamily="34" charset="-122"/>
                <a:cs typeface="Arial" pitchFamily="34" charset="-120"/>
              </a:rPr>
              <a:t>Reference-grade monitoring stations are expensive, so most neighborhoods get little or no local data.</a:t>
            </a:r>
            <a:endParaRPr lang="en-US" sz="1400" dirty="0"/>
          </a:p>
        </p:txBody>
      </p:sp>
      <p:sp>
        <p:nvSpPr>
          <p:cNvPr id="7" name="Shape 5"/>
          <p:cNvSpPr/>
          <p:nvPr/>
        </p:nvSpPr>
        <p:spPr>
          <a:xfrm>
            <a:off x="4405809" y="2431355"/>
            <a:ext cx="3380333" cy="1916311"/>
          </a:xfrm>
          <a:prstGeom prst="roundRect">
            <a:avLst>
              <a:gd name="adj" fmla="val 5136"/>
            </a:avLst>
          </a:prstGeom>
          <a:solidFill>
            <a:srgbClr val="FBFAF5"/>
          </a:solidFill>
          <a:ln w="6350">
            <a:solidFill>
              <a:srgbClr val="DDD6C4"/>
            </a:solidFill>
            <a:prstDash val="solid"/>
          </a:ln>
        </p:spPr>
      </p:sp>
      <p:sp>
        <p:nvSpPr>
          <p:cNvPr id="8" name="Text 6"/>
          <p:cNvSpPr/>
          <p:nvPr/>
        </p:nvSpPr>
        <p:spPr>
          <a:xfrm>
            <a:off x="4662984" y="268853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302B"/>
                </a:solidFill>
                <a:latin typeface="Arial" pitchFamily="34" charset="0"/>
                <a:ea typeface="Arial" pitchFamily="34" charset="-122"/>
                <a:cs typeface="Arial" pitchFamily="34" charset="-120"/>
              </a:rPr>
              <a:t>Little shade in summer</a:t>
            </a:r>
            <a:endParaRPr lang="en-US" sz="2000" dirty="0"/>
          </a:p>
        </p:txBody>
      </p:sp>
      <p:sp>
        <p:nvSpPr>
          <p:cNvPr id="9" name="Text 7"/>
          <p:cNvSpPr/>
          <p:nvPr/>
        </p:nvSpPr>
        <p:spPr>
          <a:xfrm>
            <a:off x="4662984" y="3094930"/>
            <a:ext cx="295196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05B"/>
                </a:solidFill>
                <a:latin typeface="Arial" pitchFamily="34" charset="0"/>
                <a:ea typeface="Arial" pitchFamily="34" charset="-122"/>
                <a:cs typeface="Arial" pitchFamily="34" charset="-120"/>
              </a:rPr>
              <a:t>Public spaces often lack shade, seating and a place to cool down during heat waves.</a:t>
            </a:r>
            <a:endParaRPr lang="en-US" sz="1400" dirty="0"/>
          </a:p>
        </p:txBody>
      </p:sp>
      <p:sp>
        <p:nvSpPr>
          <p:cNvPr id="10" name="Shape 8"/>
          <p:cNvSpPr/>
          <p:nvPr/>
        </p:nvSpPr>
        <p:spPr>
          <a:xfrm>
            <a:off x="7995692" y="2431355"/>
            <a:ext cx="3380333" cy="1916311"/>
          </a:xfrm>
          <a:prstGeom prst="roundRect">
            <a:avLst>
              <a:gd name="adj" fmla="val 5136"/>
            </a:avLst>
          </a:prstGeom>
          <a:solidFill>
            <a:srgbClr val="FBFAF5"/>
          </a:solidFill>
          <a:ln w="6350">
            <a:solidFill>
              <a:srgbClr val="DDD6C4"/>
            </a:solidFill>
            <a:prstDash val="solid"/>
          </a:ln>
        </p:spPr>
      </p:sp>
      <p:sp>
        <p:nvSpPr>
          <p:cNvPr id="11" name="Text 9"/>
          <p:cNvSpPr/>
          <p:nvPr/>
        </p:nvSpPr>
        <p:spPr>
          <a:xfrm>
            <a:off x="8252867" y="268853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302B"/>
                </a:solidFill>
                <a:latin typeface="Arial" pitchFamily="34" charset="0"/>
                <a:ea typeface="Arial" pitchFamily="34" charset="-122"/>
                <a:cs typeface="Arial" pitchFamily="34" charset="-120"/>
              </a:rPr>
              <a:t>No public power</a:t>
            </a:r>
            <a:endParaRPr lang="en-US" sz="2000" dirty="0"/>
          </a:p>
        </p:txBody>
      </p:sp>
      <p:sp>
        <p:nvSpPr>
          <p:cNvPr id="12" name="Text 10"/>
          <p:cNvSpPr/>
          <p:nvPr/>
        </p:nvSpPr>
        <p:spPr>
          <a:xfrm>
            <a:off x="8252867" y="3094930"/>
            <a:ext cx="295196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05B"/>
                </a:solidFill>
                <a:latin typeface="Arial" pitchFamily="34" charset="0"/>
                <a:ea typeface="Arial" pitchFamily="34" charset="-122"/>
                <a:cs typeface="Arial" pitchFamily="34" charset="-120"/>
              </a:rPr>
              <a:t>People cannot charge a phone outdoors, and clean energy stays out of sight.</a:t>
            </a:r>
            <a:endParaRPr lang="en-US" sz="1400" dirty="0"/>
          </a:p>
        </p:txBody>
      </p:sp>
      <p:sp>
        <p:nvSpPr>
          <p:cNvPr id="13" name="Text 11"/>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6"/>
                </a:solidFill>
                <a:latin typeface="Arial" pitchFamily="34" charset="0"/>
                <a:ea typeface="Arial" pitchFamily="34" charset="-122"/>
                <a:cs typeface="Arial" pitchFamily="34" charset="-120"/>
              </a:rPr>
              <a:t>Arbora · Smart solar tree</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66"/>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D2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Arial" pitchFamily="34" charset="0"/>
                <a:ea typeface="Arial" pitchFamily="34" charset="-122"/>
                <a:cs typeface="Arial" pitchFamily="34" charset="-120"/>
              </a:rPr>
              <a:t>THE CONCEPT</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2E9"/>
                </a:solidFill>
                <a:latin typeface="Arial" pitchFamily="34" charset="0"/>
                <a:ea typeface="Arial" pitchFamily="34" charset="-122"/>
                <a:cs typeface="Arial" pitchFamily="34" charset="-120"/>
              </a:rPr>
              <a:t>One structure, four jobs</a:t>
            </a:r>
            <a:endParaRPr lang="en-US" sz="3200" dirty="0"/>
          </a:p>
        </p:txBody>
      </p:sp>
      <p:sp>
        <p:nvSpPr>
          <p:cNvPr id="4" name="Shape 2"/>
          <p:cNvSpPr/>
          <p:nvPr/>
        </p:nvSpPr>
        <p:spPr>
          <a:xfrm>
            <a:off x="815975" y="1984325"/>
            <a:ext cx="2520950" cy="1878261"/>
          </a:xfrm>
          <a:prstGeom prst="roundRect">
            <a:avLst>
              <a:gd name="adj" fmla="val 5240"/>
            </a:avLst>
          </a:prstGeom>
          <a:solidFill>
            <a:srgbClr val="173A34"/>
          </a:solidFill>
          <a:ln w="6350">
            <a:solidFill>
              <a:srgbClr val="2A5A52"/>
            </a:solidFill>
            <a:prstDash val="solid"/>
          </a:ln>
        </p:spPr>
      </p:sp>
      <p:sp>
        <p:nvSpPr>
          <p:cNvPr id="5" name="Text 3"/>
          <p:cNvSpPr/>
          <p:nvPr/>
        </p:nvSpPr>
        <p:spPr>
          <a:xfrm>
            <a:off x="1047750" y="2216100"/>
            <a:ext cx="211912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Arial" pitchFamily="34" charset="0"/>
                <a:ea typeface="Arial" pitchFamily="34" charset="-122"/>
                <a:cs typeface="Arial" pitchFamily="34" charset="-120"/>
              </a:rPr>
              <a:t>01</a:t>
            </a:r>
            <a:endParaRPr lang="en-US" sz="1200" dirty="0"/>
          </a:p>
        </p:txBody>
      </p:sp>
      <p:sp>
        <p:nvSpPr>
          <p:cNvPr id="6" name="Text 4"/>
          <p:cNvSpPr/>
          <p:nvPr/>
        </p:nvSpPr>
        <p:spPr>
          <a:xfrm>
            <a:off x="1047750" y="2531021"/>
            <a:ext cx="211912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2E9"/>
                </a:solidFill>
                <a:latin typeface="Arial" pitchFamily="34" charset="0"/>
                <a:ea typeface="Arial" pitchFamily="34" charset="-122"/>
                <a:cs typeface="Arial" pitchFamily="34" charset="-120"/>
              </a:rPr>
              <a:t>Generate</a:t>
            </a:r>
            <a:endParaRPr lang="en-US" sz="2000" dirty="0"/>
          </a:p>
        </p:txBody>
      </p:sp>
      <p:sp>
        <p:nvSpPr>
          <p:cNvPr id="7" name="Text 5"/>
          <p:cNvSpPr/>
          <p:nvPr/>
        </p:nvSpPr>
        <p:spPr>
          <a:xfrm>
            <a:off x="1047750" y="2937421"/>
            <a:ext cx="211912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0DA"/>
                </a:solidFill>
                <a:latin typeface="Arial" pitchFamily="34" charset="0"/>
                <a:ea typeface="Arial" pitchFamily="34" charset="-122"/>
                <a:cs typeface="Arial" pitchFamily="34" charset="-120"/>
              </a:rPr>
              <a:t>Solar canopy of about 1 kWp, with a battery for night use.</a:t>
            </a:r>
            <a:endParaRPr lang="en-US" sz="1300" dirty="0"/>
          </a:p>
        </p:txBody>
      </p:sp>
      <p:sp>
        <p:nvSpPr>
          <p:cNvPr id="8" name="Shape 6"/>
          <p:cNvSpPr/>
          <p:nvPr/>
        </p:nvSpPr>
        <p:spPr>
          <a:xfrm>
            <a:off x="3495675" y="1984325"/>
            <a:ext cx="2520950" cy="1878261"/>
          </a:xfrm>
          <a:prstGeom prst="roundRect">
            <a:avLst>
              <a:gd name="adj" fmla="val 5240"/>
            </a:avLst>
          </a:prstGeom>
          <a:solidFill>
            <a:srgbClr val="173A34"/>
          </a:solidFill>
          <a:ln w="6350">
            <a:solidFill>
              <a:srgbClr val="2A5A52"/>
            </a:solidFill>
            <a:prstDash val="solid"/>
          </a:ln>
        </p:spPr>
      </p:sp>
      <p:sp>
        <p:nvSpPr>
          <p:cNvPr id="9" name="Text 7"/>
          <p:cNvSpPr/>
          <p:nvPr/>
        </p:nvSpPr>
        <p:spPr>
          <a:xfrm>
            <a:off x="3727450" y="2216100"/>
            <a:ext cx="211912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3727450" y="2531021"/>
            <a:ext cx="211912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2E9"/>
                </a:solidFill>
                <a:latin typeface="Arial" pitchFamily="34" charset="0"/>
                <a:ea typeface="Arial" pitchFamily="34" charset="-122"/>
                <a:cs typeface="Arial" pitchFamily="34" charset="-120"/>
              </a:rPr>
              <a:t>Measure</a:t>
            </a:r>
            <a:endParaRPr lang="en-US" sz="2000" dirty="0"/>
          </a:p>
        </p:txBody>
      </p:sp>
      <p:sp>
        <p:nvSpPr>
          <p:cNvPr id="11" name="Text 9"/>
          <p:cNvSpPr/>
          <p:nvPr/>
        </p:nvSpPr>
        <p:spPr>
          <a:xfrm>
            <a:off x="3727450" y="2937421"/>
            <a:ext cx="211912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0DA"/>
                </a:solidFill>
                <a:latin typeface="Arial" pitchFamily="34" charset="0"/>
                <a:ea typeface="Arial" pitchFamily="34" charset="-122"/>
                <a:cs typeface="Arial" pitchFamily="34" charset="-120"/>
              </a:rPr>
              <a:t>PM2.5, PM10, CO₂, temperature and humidity, shown live.</a:t>
            </a:r>
            <a:endParaRPr lang="en-US" sz="1300" dirty="0"/>
          </a:p>
        </p:txBody>
      </p:sp>
      <p:sp>
        <p:nvSpPr>
          <p:cNvPr id="12" name="Shape 10"/>
          <p:cNvSpPr/>
          <p:nvPr/>
        </p:nvSpPr>
        <p:spPr>
          <a:xfrm>
            <a:off x="6175375" y="1984325"/>
            <a:ext cx="2520950" cy="1878261"/>
          </a:xfrm>
          <a:prstGeom prst="roundRect">
            <a:avLst>
              <a:gd name="adj" fmla="val 5240"/>
            </a:avLst>
          </a:prstGeom>
          <a:solidFill>
            <a:srgbClr val="173A34"/>
          </a:solidFill>
          <a:ln w="6350">
            <a:solidFill>
              <a:srgbClr val="2A5A52"/>
            </a:solidFill>
            <a:prstDash val="solid"/>
          </a:ln>
        </p:spPr>
      </p:sp>
      <p:sp>
        <p:nvSpPr>
          <p:cNvPr id="13" name="Text 11"/>
          <p:cNvSpPr/>
          <p:nvPr/>
        </p:nvSpPr>
        <p:spPr>
          <a:xfrm>
            <a:off x="6407150" y="2216100"/>
            <a:ext cx="211912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Arial" pitchFamily="34" charset="0"/>
                <a:ea typeface="Arial" pitchFamily="34" charset="-122"/>
                <a:cs typeface="Arial" pitchFamily="34" charset="-120"/>
              </a:rPr>
              <a:t>03</a:t>
            </a:r>
            <a:endParaRPr lang="en-US" sz="1200" dirty="0"/>
          </a:p>
        </p:txBody>
      </p:sp>
      <p:sp>
        <p:nvSpPr>
          <p:cNvPr id="14" name="Text 12"/>
          <p:cNvSpPr/>
          <p:nvPr/>
        </p:nvSpPr>
        <p:spPr>
          <a:xfrm>
            <a:off x="6407150" y="2531021"/>
            <a:ext cx="211912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2E9"/>
                </a:solidFill>
                <a:latin typeface="Arial" pitchFamily="34" charset="0"/>
                <a:ea typeface="Arial" pitchFamily="34" charset="-122"/>
                <a:cs typeface="Arial" pitchFamily="34" charset="-120"/>
              </a:rPr>
              <a:t>Remove</a:t>
            </a:r>
            <a:endParaRPr lang="en-US" sz="2000" dirty="0"/>
          </a:p>
        </p:txBody>
      </p:sp>
      <p:sp>
        <p:nvSpPr>
          <p:cNvPr id="15" name="Text 13"/>
          <p:cNvSpPr/>
          <p:nvPr/>
        </p:nvSpPr>
        <p:spPr>
          <a:xfrm>
            <a:off x="6407150" y="2937421"/>
            <a:ext cx="211912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0DA"/>
                </a:solidFill>
                <a:latin typeface="Arial" pitchFamily="34" charset="0"/>
                <a:ea typeface="Arial" pitchFamily="34" charset="-122"/>
                <a:cs typeface="Arial" pitchFamily="34" charset="-120"/>
              </a:rPr>
              <a:t>An algae bioreactor and plants take in CO₂ and release oxygen.</a:t>
            </a:r>
            <a:endParaRPr lang="en-US" sz="1300" dirty="0"/>
          </a:p>
        </p:txBody>
      </p:sp>
      <p:sp>
        <p:nvSpPr>
          <p:cNvPr id="16" name="Shape 14"/>
          <p:cNvSpPr/>
          <p:nvPr/>
        </p:nvSpPr>
        <p:spPr>
          <a:xfrm>
            <a:off x="8855075" y="1984325"/>
            <a:ext cx="2520950" cy="1878261"/>
          </a:xfrm>
          <a:prstGeom prst="roundRect">
            <a:avLst>
              <a:gd name="adj" fmla="val 5240"/>
            </a:avLst>
          </a:prstGeom>
          <a:solidFill>
            <a:srgbClr val="173A34"/>
          </a:solidFill>
          <a:ln w="6350">
            <a:solidFill>
              <a:srgbClr val="2A5A52"/>
            </a:solidFill>
            <a:prstDash val="solid"/>
          </a:ln>
        </p:spPr>
      </p:sp>
      <p:sp>
        <p:nvSpPr>
          <p:cNvPr id="17" name="Text 15"/>
          <p:cNvSpPr/>
          <p:nvPr/>
        </p:nvSpPr>
        <p:spPr>
          <a:xfrm>
            <a:off x="9086850" y="2216100"/>
            <a:ext cx="211912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Arial" pitchFamily="34" charset="0"/>
                <a:ea typeface="Arial" pitchFamily="34" charset="-122"/>
                <a:cs typeface="Arial" pitchFamily="34" charset="-120"/>
              </a:rPr>
              <a:t>04</a:t>
            </a:r>
            <a:endParaRPr lang="en-US" sz="1200" dirty="0"/>
          </a:p>
        </p:txBody>
      </p:sp>
      <p:sp>
        <p:nvSpPr>
          <p:cNvPr id="18" name="Text 16"/>
          <p:cNvSpPr/>
          <p:nvPr/>
        </p:nvSpPr>
        <p:spPr>
          <a:xfrm>
            <a:off x="9086850" y="2531021"/>
            <a:ext cx="211912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2E9"/>
                </a:solidFill>
                <a:latin typeface="Arial" pitchFamily="34" charset="0"/>
                <a:ea typeface="Arial" pitchFamily="34" charset="-122"/>
                <a:cs typeface="Arial" pitchFamily="34" charset="-120"/>
              </a:rPr>
              <a:t>Serve</a:t>
            </a:r>
            <a:endParaRPr lang="en-US" sz="2000" dirty="0"/>
          </a:p>
        </p:txBody>
      </p:sp>
      <p:sp>
        <p:nvSpPr>
          <p:cNvPr id="19" name="Text 17"/>
          <p:cNvSpPr/>
          <p:nvPr/>
        </p:nvSpPr>
        <p:spPr>
          <a:xfrm>
            <a:off x="9086850" y="2937421"/>
            <a:ext cx="211912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E0DA"/>
                </a:solidFill>
                <a:latin typeface="Arial" pitchFamily="34" charset="0"/>
                <a:ea typeface="Arial" pitchFamily="34" charset="-122"/>
                <a:cs typeface="Arial" pitchFamily="34" charset="-120"/>
              </a:rPr>
              <a:t>Shade, rain cover and benches with USB-C charging.</a:t>
            </a:r>
            <a:endParaRPr lang="en-US" sz="1300" dirty="0"/>
          </a:p>
        </p:txBody>
      </p:sp>
      <p:sp>
        <p:nvSpPr>
          <p:cNvPr id="20" name="Text 18"/>
          <p:cNvSpPr/>
          <p:nvPr/>
        </p:nvSpPr>
        <p:spPr>
          <a:xfrm>
            <a:off x="812800" y="4119761"/>
            <a:ext cx="91567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C2BB"/>
                </a:solidFill>
                <a:latin typeface="Arial" pitchFamily="34" charset="0"/>
                <a:ea typeface="Arial" pitchFamily="34" charset="-122"/>
                <a:cs typeface="Arial" pitchFamily="34" charset="-120"/>
              </a:rPr>
              <a:t>Later versions add advanced CO₂ conversion, cooling zones and day and night forms.</a:t>
            </a:r>
            <a:endParaRPr lang="en-US" sz="1500" dirty="0"/>
          </a:p>
        </p:txBody>
      </p:sp>
      <p:sp>
        <p:nvSpPr>
          <p:cNvPr id="21" name="Text 19"/>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BB"/>
                </a:solidFill>
                <a:latin typeface="Arial" pitchFamily="34" charset="0"/>
                <a:ea typeface="Arial" pitchFamily="34" charset="-122"/>
                <a:cs typeface="Arial" pitchFamily="34" charset="-120"/>
              </a:rPr>
              <a:t>Arbora · Smart solar tree</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BB"/>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9"/>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302B"/>
                </a:solidFill>
                <a:latin typeface="Arial" pitchFamily="34" charset="0"/>
                <a:ea typeface="Arial" pitchFamily="34" charset="-122"/>
                <a:cs typeface="Arial" pitchFamily="34" charset="-120"/>
              </a:rPr>
              <a:t>The MVP: a 3 m solar tree</a:t>
            </a:r>
            <a:endParaRPr lang="en-US" sz="3200" dirty="0"/>
          </a:p>
        </p:txBody>
      </p:sp>
      <p:pic>
        <p:nvPicPr>
          <p:cNvPr id="3" name="Image 0" descr="Schematic of the Arbora tree: solar canopy on top, a trunk holding sensors, a battery and an algae reactor, and two benches at the base">    </p:cNvPr>
          <p:cNvPicPr>
            <a:picLocks noChangeAspect="1"/>
          </p:cNvPicPr>
          <p:nvPr/>
        </p:nvPicPr>
        <p:blipFill>
          <a:blip r:embed="rId1"/>
          <a:srcRect l="0" r="0" t="0" b="0"/>
          <a:stretch/>
        </p:blipFill>
        <p:spPr>
          <a:xfrm>
            <a:off x="812800" y="1463030"/>
            <a:ext cx="4826000" cy="4064000"/>
          </a:xfrm>
          <a:prstGeom prst="rect">
            <a:avLst/>
          </a:prstGeom>
        </p:spPr>
      </p:pic>
      <p:sp>
        <p:nvSpPr>
          <p:cNvPr id="4" name="Text 1"/>
          <p:cNvSpPr/>
          <p:nvPr/>
        </p:nvSpPr>
        <p:spPr>
          <a:xfrm>
            <a:off x="1721485" y="1551930"/>
            <a:ext cx="300863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6302B"/>
                </a:solidFill>
                <a:latin typeface="Arial" pitchFamily="34" charset="0"/>
                <a:ea typeface="Arial" pitchFamily="34" charset="-122"/>
                <a:cs typeface="Arial" pitchFamily="34" charset="-120"/>
              </a:rPr>
              <a:t>Solar canopy, ~1 kWp</a:t>
            </a:r>
            <a:endParaRPr lang="en-US" sz="1300" dirty="0"/>
          </a:p>
        </p:txBody>
      </p:sp>
      <p:sp>
        <p:nvSpPr>
          <p:cNvPr id="5" name="Text 2"/>
          <p:cNvSpPr/>
          <p:nvPr/>
        </p:nvSpPr>
        <p:spPr>
          <a:xfrm>
            <a:off x="3860800" y="2479030"/>
            <a:ext cx="17018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302B"/>
                </a:solidFill>
                <a:latin typeface="Arial" pitchFamily="34" charset="0"/>
                <a:ea typeface="Arial" pitchFamily="34" charset="-122"/>
                <a:cs typeface="Arial" pitchFamily="34" charset="-120"/>
              </a:rPr>
              <a:t>Air sensors</a:t>
            </a:r>
            <a:endParaRPr lang="en-US" sz="1300" dirty="0"/>
          </a:p>
        </p:txBody>
      </p:sp>
      <p:sp>
        <p:nvSpPr>
          <p:cNvPr id="6" name="Text 3"/>
          <p:cNvSpPr/>
          <p:nvPr/>
        </p:nvSpPr>
        <p:spPr>
          <a:xfrm>
            <a:off x="3860800" y="3063230"/>
            <a:ext cx="17018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302B"/>
                </a:solidFill>
                <a:latin typeface="Arial" pitchFamily="34" charset="0"/>
                <a:ea typeface="Arial" pitchFamily="34" charset="-122"/>
                <a:cs typeface="Arial" pitchFamily="34" charset="-120"/>
              </a:rPr>
              <a:t>Battery</a:t>
            </a:r>
            <a:endParaRPr lang="en-US" sz="1300" dirty="0"/>
          </a:p>
        </p:txBody>
      </p:sp>
      <p:sp>
        <p:nvSpPr>
          <p:cNvPr id="7" name="Text 4"/>
          <p:cNvSpPr/>
          <p:nvPr/>
        </p:nvSpPr>
        <p:spPr>
          <a:xfrm>
            <a:off x="3860800" y="4060180"/>
            <a:ext cx="17018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302B"/>
                </a:solidFill>
                <a:latin typeface="Arial" pitchFamily="34" charset="0"/>
                <a:ea typeface="Arial" pitchFamily="34" charset="-122"/>
                <a:cs typeface="Arial" pitchFamily="34" charset="-120"/>
              </a:rPr>
              <a:t>Algae reactor</a:t>
            </a:r>
            <a:endParaRPr lang="en-US" sz="1300" dirty="0"/>
          </a:p>
        </p:txBody>
      </p:sp>
      <p:sp>
        <p:nvSpPr>
          <p:cNvPr id="8" name="Text 5"/>
          <p:cNvSpPr/>
          <p:nvPr/>
        </p:nvSpPr>
        <p:spPr>
          <a:xfrm>
            <a:off x="1459865" y="5107930"/>
            <a:ext cx="353187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6302B"/>
                </a:solidFill>
                <a:latin typeface="Arial" pitchFamily="34" charset="0"/>
                <a:ea typeface="Arial" pitchFamily="34" charset="-122"/>
                <a:cs typeface="Arial" pitchFamily="34" charset="-120"/>
              </a:rPr>
              <a:t>Benches with USB-C charging</a:t>
            </a:r>
            <a:endParaRPr lang="en-US" sz="1300" dirty="0"/>
          </a:p>
        </p:txBody>
      </p:sp>
      <p:sp>
        <p:nvSpPr>
          <p:cNvPr id="9" name="Shape 6"/>
          <p:cNvSpPr/>
          <p:nvPr/>
        </p:nvSpPr>
        <p:spPr>
          <a:xfrm>
            <a:off x="6045200" y="1707604"/>
            <a:ext cx="5334000" cy="0"/>
          </a:xfrm>
          <a:prstGeom prst="line">
            <a:avLst/>
          </a:prstGeom>
          <a:noFill/>
          <a:ln w="6350">
            <a:solidFill>
              <a:srgbClr val="DDD6C4"/>
            </a:solidFill>
            <a:prstDash val="solid"/>
          </a:ln>
        </p:spPr>
      </p:sp>
      <p:sp>
        <p:nvSpPr>
          <p:cNvPr id="10" name="Text 7"/>
          <p:cNvSpPr/>
          <p:nvPr/>
        </p:nvSpPr>
        <p:spPr>
          <a:xfrm>
            <a:off x="6045200" y="1837779"/>
            <a:ext cx="54940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6302B"/>
                </a:solidFill>
                <a:latin typeface="Arial" pitchFamily="34" charset="0"/>
                <a:ea typeface="Arial" pitchFamily="34" charset="-122"/>
                <a:cs typeface="Arial" pitchFamily="34" charset="-120"/>
              </a:rPr>
              <a:t>~3 m</a:t>
            </a:r>
            <a:endParaRPr lang="en-US" sz="2800" dirty="0"/>
          </a:p>
        </p:txBody>
      </p:sp>
      <p:sp>
        <p:nvSpPr>
          <p:cNvPr id="11" name="Text 8"/>
          <p:cNvSpPr/>
          <p:nvPr/>
        </p:nvSpPr>
        <p:spPr>
          <a:xfrm>
            <a:off x="6045200" y="2254300"/>
            <a:ext cx="54940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605B"/>
                </a:solidFill>
                <a:latin typeface="Arial" pitchFamily="34" charset="0"/>
                <a:ea typeface="Arial" pitchFamily="34" charset="-122"/>
                <a:cs typeface="Arial" pitchFamily="34" charset="-120"/>
              </a:rPr>
              <a:t>Tall, with a ~3 m solar canopy</a:t>
            </a:r>
            <a:endParaRPr lang="en-US" sz="1300" dirty="0"/>
          </a:p>
        </p:txBody>
      </p:sp>
      <p:sp>
        <p:nvSpPr>
          <p:cNvPr id="12" name="Shape 9"/>
          <p:cNvSpPr/>
          <p:nvPr/>
        </p:nvSpPr>
        <p:spPr>
          <a:xfrm>
            <a:off x="6045200" y="2641005"/>
            <a:ext cx="5334000" cy="0"/>
          </a:xfrm>
          <a:prstGeom prst="line">
            <a:avLst/>
          </a:prstGeom>
          <a:noFill/>
          <a:ln w="6350">
            <a:solidFill>
              <a:srgbClr val="DDD6C4"/>
            </a:solidFill>
            <a:prstDash val="solid"/>
          </a:ln>
        </p:spPr>
      </p:sp>
      <p:sp>
        <p:nvSpPr>
          <p:cNvPr id="13" name="Text 10"/>
          <p:cNvSpPr/>
          <p:nvPr/>
        </p:nvSpPr>
        <p:spPr>
          <a:xfrm>
            <a:off x="6045200" y="2771180"/>
            <a:ext cx="54940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6302B"/>
                </a:solidFill>
                <a:latin typeface="Arial" pitchFamily="34" charset="0"/>
                <a:ea typeface="Arial" pitchFamily="34" charset="-122"/>
                <a:cs typeface="Arial" pitchFamily="34" charset="-120"/>
              </a:rPr>
              <a:t>1 kWp + 2 kWh</a:t>
            </a:r>
            <a:endParaRPr lang="en-US" sz="2800" dirty="0"/>
          </a:p>
        </p:txBody>
      </p:sp>
      <p:sp>
        <p:nvSpPr>
          <p:cNvPr id="14" name="Text 11"/>
          <p:cNvSpPr/>
          <p:nvPr/>
        </p:nvSpPr>
        <p:spPr>
          <a:xfrm>
            <a:off x="6045200" y="3187700"/>
            <a:ext cx="54940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605B"/>
                </a:solidFill>
                <a:latin typeface="Arial" pitchFamily="34" charset="0"/>
                <a:ea typeface="Arial" pitchFamily="34" charset="-122"/>
                <a:cs typeface="Arial" pitchFamily="34" charset="-120"/>
              </a:rPr>
              <a:t>Solar panels and battery in the trunk</a:t>
            </a:r>
            <a:endParaRPr lang="en-US" sz="1300" dirty="0"/>
          </a:p>
        </p:txBody>
      </p:sp>
      <p:sp>
        <p:nvSpPr>
          <p:cNvPr id="15" name="Shape 12"/>
          <p:cNvSpPr/>
          <p:nvPr/>
        </p:nvSpPr>
        <p:spPr>
          <a:xfrm>
            <a:off x="6045200" y="3574405"/>
            <a:ext cx="5334000" cy="0"/>
          </a:xfrm>
          <a:prstGeom prst="line">
            <a:avLst/>
          </a:prstGeom>
          <a:noFill/>
          <a:ln w="6350">
            <a:solidFill>
              <a:srgbClr val="DDD6C4"/>
            </a:solidFill>
            <a:prstDash val="solid"/>
          </a:ln>
        </p:spPr>
      </p:sp>
      <p:sp>
        <p:nvSpPr>
          <p:cNvPr id="16" name="Text 13"/>
          <p:cNvSpPr/>
          <p:nvPr/>
        </p:nvSpPr>
        <p:spPr>
          <a:xfrm>
            <a:off x="6045200" y="3704580"/>
            <a:ext cx="54940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6302B"/>
                </a:solidFill>
                <a:latin typeface="Arial" pitchFamily="34" charset="0"/>
                <a:ea typeface="Arial" pitchFamily="34" charset="-122"/>
                <a:cs typeface="Arial" pitchFamily="34" charset="-120"/>
              </a:rPr>
              <a:t>100–200 L</a:t>
            </a:r>
            <a:endParaRPr lang="en-US" sz="2800" dirty="0"/>
          </a:p>
        </p:txBody>
      </p:sp>
      <p:sp>
        <p:nvSpPr>
          <p:cNvPr id="17" name="Text 14"/>
          <p:cNvSpPr/>
          <p:nvPr/>
        </p:nvSpPr>
        <p:spPr>
          <a:xfrm>
            <a:off x="6045200" y="4121100"/>
            <a:ext cx="54940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605B"/>
                </a:solidFill>
                <a:latin typeface="Arial" pitchFamily="34" charset="0"/>
                <a:ea typeface="Arial" pitchFamily="34" charset="-122"/>
                <a:cs typeface="Arial" pitchFamily="34" charset="-120"/>
              </a:rPr>
              <a:t>Algae bioreactor, plus plants and moss</a:t>
            </a:r>
            <a:endParaRPr lang="en-US" sz="1300" dirty="0"/>
          </a:p>
        </p:txBody>
      </p:sp>
      <p:sp>
        <p:nvSpPr>
          <p:cNvPr id="18" name="Shape 15"/>
          <p:cNvSpPr/>
          <p:nvPr/>
        </p:nvSpPr>
        <p:spPr>
          <a:xfrm>
            <a:off x="6045200" y="4507805"/>
            <a:ext cx="5334000" cy="0"/>
          </a:xfrm>
          <a:prstGeom prst="line">
            <a:avLst/>
          </a:prstGeom>
          <a:noFill/>
          <a:ln w="6350">
            <a:solidFill>
              <a:srgbClr val="DDD6C4"/>
            </a:solidFill>
            <a:prstDash val="solid"/>
          </a:ln>
        </p:spPr>
      </p:sp>
      <p:sp>
        <p:nvSpPr>
          <p:cNvPr id="19" name="Text 16"/>
          <p:cNvSpPr/>
          <p:nvPr/>
        </p:nvSpPr>
        <p:spPr>
          <a:xfrm>
            <a:off x="6045200" y="4637980"/>
            <a:ext cx="54940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6302B"/>
                </a:solidFill>
                <a:latin typeface="Arial" pitchFamily="34" charset="0"/>
                <a:ea typeface="Arial" pitchFamily="34" charset="-122"/>
                <a:cs typeface="Arial" pitchFamily="34" charset="-120"/>
              </a:rPr>
              <a:t>$2.4–5.6k</a:t>
            </a:r>
            <a:endParaRPr lang="en-US" sz="2800" dirty="0"/>
          </a:p>
        </p:txBody>
      </p:sp>
      <p:sp>
        <p:nvSpPr>
          <p:cNvPr id="20" name="Text 17"/>
          <p:cNvSpPr/>
          <p:nvPr/>
        </p:nvSpPr>
        <p:spPr>
          <a:xfrm>
            <a:off x="6045200" y="5054501"/>
            <a:ext cx="54940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605B"/>
                </a:solidFill>
                <a:latin typeface="Arial" pitchFamily="34" charset="0"/>
                <a:ea typeface="Arial" pitchFamily="34" charset="-122"/>
                <a:cs typeface="Arial" pitchFamily="34" charset="-120"/>
              </a:rPr>
              <a:t>DIY hardware cost for the first prototype</a:t>
            </a:r>
            <a:endParaRPr lang="en-US" sz="1300" dirty="0"/>
          </a:p>
        </p:txBody>
      </p:sp>
      <p:sp>
        <p:nvSpPr>
          <p:cNvPr id="21" name="Text 18"/>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6"/>
                </a:solidFill>
                <a:latin typeface="Arial" pitchFamily="34" charset="0"/>
                <a:ea typeface="Arial" pitchFamily="34" charset="-122"/>
                <a:cs typeface="Arial" pitchFamily="34" charset="-120"/>
              </a:rPr>
              <a:t>Arbora · Smart solar tree</a:t>
            </a:r>
            <a:endParaRPr lang="en-US" sz="1200" dirty="0"/>
          </a:p>
        </p:txBody>
      </p:sp>
      <p:sp>
        <p:nvSpPr>
          <p:cNvPr id="22"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66"/>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E5D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E7A6B"/>
                </a:solidFill>
                <a:latin typeface="Arial" pitchFamily="34" charset="0"/>
                <a:ea typeface="Arial" pitchFamily="34" charset="-122"/>
                <a:cs typeface="Arial" pitchFamily="34" charset="-120"/>
              </a:rPr>
              <a:t>HOW IT WORKS</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302B"/>
                </a:solidFill>
                <a:latin typeface="Arial" pitchFamily="34" charset="0"/>
                <a:ea typeface="Arial" pitchFamily="34" charset="-122"/>
                <a:cs typeface="Arial" pitchFamily="34" charset="-120"/>
              </a:rPr>
              <a:t>How the tree removes CO₂</a:t>
            </a:r>
            <a:endParaRPr lang="en-US" sz="3200" dirty="0"/>
          </a:p>
        </p:txBody>
      </p:sp>
      <p:sp>
        <p:nvSpPr>
          <p:cNvPr id="4" name="Shape 2"/>
          <p:cNvSpPr/>
          <p:nvPr/>
        </p:nvSpPr>
        <p:spPr>
          <a:xfrm>
            <a:off x="815975" y="1984325"/>
            <a:ext cx="3007767" cy="1583630"/>
          </a:xfrm>
          <a:prstGeom prst="roundRect">
            <a:avLst>
              <a:gd name="adj" fmla="val 6215"/>
            </a:avLst>
          </a:prstGeom>
          <a:solidFill>
            <a:srgbClr val="FBFAF5"/>
          </a:solidFill>
          <a:ln w="6350">
            <a:solidFill>
              <a:srgbClr val="D3CCB8"/>
            </a:solidFill>
            <a:prstDash val="solid"/>
          </a:ln>
        </p:spPr>
      </p:sp>
      <p:sp>
        <p:nvSpPr>
          <p:cNvPr id="5" name="Text 3"/>
          <p:cNvSpPr/>
          <p:nvPr/>
        </p:nvSpPr>
        <p:spPr>
          <a:xfrm>
            <a:off x="1073150" y="2241500"/>
            <a:ext cx="256821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Arial" pitchFamily="34" charset="0"/>
                <a:ea typeface="Arial" pitchFamily="34" charset="-122"/>
                <a:cs typeface="Arial" pitchFamily="34" charset="-120"/>
              </a:rPr>
              <a:t>1. Air in</a:t>
            </a:r>
            <a:endParaRPr lang="en-US" sz="1800" dirty="0"/>
          </a:p>
        </p:txBody>
      </p:sp>
      <p:sp>
        <p:nvSpPr>
          <p:cNvPr id="6" name="Text 4"/>
          <p:cNvSpPr/>
          <p:nvPr/>
        </p:nvSpPr>
        <p:spPr>
          <a:xfrm>
            <a:off x="1073150" y="2617391"/>
            <a:ext cx="256821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605B"/>
                </a:solidFill>
                <a:latin typeface="Arial" pitchFamily="34" charset="0"/>
                <a:ea typeface="Arial" pitchFamily="34" charset="-122"/>
                <a:cs typeface="Arial" pitchFamily="34" charset="-120"/>
              </a:rPr>
              <a:t>A small pump pushes air through the water as fine bubbles, and CO₂ dissolves.</a:t>
            </a:r>
            <a:endParaRPr lang="en-US" sz="1300" dirty="0"/>
          </a:p>
        </p:txBody>
      </p:sp>
      <p:pic>
        <p:nvPicPr>
          <p:cNvPr id="7" name="Image 0" descr="arrow-right">    </p:cNvPr>
          <p:cNvPicPr>
            <a:picLocks noChangeAspect="1"/>
          </p:cNvPicPr>
          <p:nvPr/>
        </p:nvPicPr>
        <p:blipFill>
          <a:blip r:embed="rId1"/>
          <a:srcRect l="0" r="0" t="0" b="0"/>
          <a:stretch/>
        </p:blipFill>
        <p:spPr>
          <a:xfrm>
            <a:off x="3979317" y="2636441"/>
            <a:ext cx="457200" cy="279400"/>
          </a:xfrm>
          <a:prstGeom prst="rect">
            <a:avLst/>
          </a:prstGeom>
        </p:spPr>
      </p:pic>
      <p:sp>
        <p:nvSpPr>
          <p:cNvPr id="8" name="Shape 5"/>
          <p:cNvSpPr/>
          <p:nvPr/>
        </p:nvSpPr>
        <p:spPr>
          <a:xfrm>
            <a:off x="4592092" y="1984325"/>
            <a:ext cx="3007816" cy="1583630"/>
          </a:xfrm>
          <a:prstGeom prst="roundRect">
            <a:avLst>
              <a:gd name="adj" fmla="val 6215"/>
            </a:avLst>
          </a:prstGeom>
          <a:solidFill>
            <a:srgbClr val="FBFAF5"/>
          </a:solidFill>
          <a:ln w="6350">
            <a:solidFill>
              <a:srgbClr val="D3CCB8"/>
            </a:solidFill>
            <a:prstDash val="solid"/>
          </a:ln>
        </p:spPr>
      </p:sp>
      <p:sp>
        <p:nvSpPr>
          <p:cNvPr id="9" name="Text 6"/>
          <p:cNvSpPr/>
          <p:nvPr/>
        </p:nvSpPr>
        <p:spPr>
          <a:xfrm>
            <a:off x="4849267" y="2241500"/>
            <a:ext cx="256827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Arial" pitchFamily="34" charset="0"/>
                <a:ea typeface="Arial" pitchFamily="34" charset="-122"/>
                <a:cs typeface="Arial" pitchFamily="34" charset="-120"/>
              </a:rPr>
              <a:t>2. Algae grow</a:t>
            </a:r>
            <a:endParaRPr lang="en-US" sz="1800" dirty="0"/>
          </a:p>
        </p:txBody>
      </p:sp>
      <p:sp>
        <p:nvSpPr>
          <p:cNvPr id="10" name="Text 7"/>
          <p:cNvSpPr/>
          <p:nvPr/>
        </p:nvSpPr>
        <p:spPr>
          <a:xfrm>
            <a:off x="4849267" y="2617391"/>
            <a:ext cx="256827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605B"/>
                </a:solidFill>
                <a:latin typeface="Arial" pitchFamily="34" charset="0"/>
                <a:ea typeface="Arial" pitchFamily="34" charset="-122"/>
                <a:cs typeface="Arial" pitchFamily="34" charset="-120"/>
              </a:rPr>
              <a:t>With light, algae turn dissolved CO₂ into biomass and release oxygen, which vents out.</a:t>
            </a:r>
            <a:endParaRPr lang="en-US" sz="1300" dirty="0"/>
          </a:p>
        </p:txBody>
      </p:sp>
      <p:pic>
        <p:nvPicPr>
          <p:cNvPr id="11" name="Image 1" descr="arrow-right">    </p:cNvPr>
          <p:cNvPicPr>
            <a:picLocks noChangeAspect="1"/>
          </p:cNvPicPr>
          <p:nvPr/>
        </p:nvPicPr>
        <p:blipFill>
          <a:blip r:embed="rId2"/>
          <a:srcRect l="0" r="0" t="0" b="0"/>
          <a:stretch/>
        </p:blipFill>
        <p:spPr>
          <a:xfrm>
            <a:off x="7755483" y="2636441"/>
            <a:ext cx="457200" cy="279400"/>
          </a:xfrm>
          <a:prstGeom prst="rect">
            <a:avLst/>
          </a:prstGeom>
        </p:spPr>
      </p:pic>
      <p:sp>
        <p:nvSpPr>
          <p:cNvPr id="12" name="Shape 8"/>
          <p:cNvSpPr/>
          <p:nvPr/>
        </p:nvSpPr>
        <p:spPr>
          <a:xfrm>
            <a:off x="8368258" y="1984325"/>
            <a:ext cx="3007767" cy="1583630"/>
          </a:xfrm>
          <a:prstGeom prst="roundRect">
            <a:avLst>
              <a:gd name="adj" fmla="val 6215"/>
            </a:avLst>
          </a:prstGeom>
          <a:solidFill>
            <a:srgbClr val="FBFAF5"/>
          </a:solidFill>
          <a:ln w="6350">
            <a:solidFill>
              <a:srgbClr val="D3CCB8"/>
            </a:solidFill>
            <a:prstDash val="solid"/>
          </a:ln>
        </p:spPr>
      </p:sp>
      <p:sp>
        <p:nvSpPr>
          <p:cNvPr id="13" name="Text 9"/>
          <p:cNvSpPr/>
          <p:nvPr/>
        </p:nvSpPr>
        <p:spPr>
          <a:xfrm>
            <a:off x="8625433" y="2241500"/>
            <a:ext cx="256821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Arial" pitchFamily="34" charset="0"/>
                <a:ea typeface="Arial" pitchFamily="34" charset="-122"/>
                <a:cs typeface="Arial" pitchFamily="34" charset="-120"/>
              </a:rPr>
              <a:t>3. Harvest</a:t>
            </a:r>
            <a:endParaRPr lang="en-US" sz="1800" dirty="0"/>
          </a:p>
        </p:txBody>
      </p:sp>
      <p:sp>
        <p:nvSpPr>
          <p:cNvPr id="14" name="Text 10"/>
          <p:cNvSpPr/>
          <p:nvPr/>
        </p:nvSpPr>
        <p:spPr>
          <a:xfrm>
            <a:off x="8625433" y="2617391"/>
            <a:ext cx="256821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605B"/>
                </a:solidFill>
                <a:latin typeface="Arial" pitchFamily="34" charset="0"/>
                <a:ea typeface="Arial" pitchFamily="34" charset="-122"/>
                <a:cs typeface="Arial" pitchFamily="34" charset="-120"/>
              </a:rPr>
              <a:t>Harvested algae become fertilizer, biofuel or feed, so the carbon stays out of the air.</a:t>
            </a:r>
            <a:endParaRPr lang="en-US" sz="1300" dirty="0"/>
          </a:p>
        </p:txBody>
      </p:sp>
      <p:sp>
        <p:nvSpPr>
          <p:cNvPr id="15" name="Text 11"/>
          <p:cNvSpPr/>
          <p:nvPr/>
        </p:nvSpPr>
        <p:spPr>
          <a:xfrm>
            <a:off x="812800" y="3825131"/>
            <a:ext cx="10566400" cy="673100"/>
          </a:xfrm>
          <a:prstGeom prst="roundRect">
            <a:avLst>
              <a:gd name="adj" fmla="val 15094"/>
            </a:avLst>
          </a:prstGeom>
          <a:solidFill>
            <a:srgbClr val="16302B"/>
          </a:solidFill>
          <a:ln/>
        </p:spPr>
        <p:txBody>
          <a:bodyPr wrap="square" lIns="224242" tIns="173442" rIns="0" bIns="148042" rtlCol="0" anchor="t">
            <a:normAutofit/>
          </a:bodyPr>
          <a:lstStyle/>
          <a:p>
            <a:pPr algn="l" indent="0" marL="0">
              <a:lnSpc>
                <a:spcPts val="2100"/>
              </a:lnSpc>
              <a:buNone/>
            </a:pPr>
            <a:r>
              <a:rPr lang="en-US" sz="1500" dirty="0">
                <a:solidFill>
                  <a:srgbClr val="F5F2E9"/>
                </a:solidFill>
                <a:latin typeface="Arial" pitchFamily="34" charset="0"/>
                <a:ea typeface="Arial" pitchFamily="34" charset="-122"/>
                <a:cs typeface="Arial" pitchFamily="34" charset="-120"/>
              </a:rPr>
              <a:t>Carbon is only removed if the algae are harvested and used. Left to rot in the tank, they release the CO₂ again.</a:t>
            </a:r>
            <a:endParaRPr lang="en-US" sz="1500" dirty="0"/>
          </a:p>
        </p:txBody>
      </p:sp>
      <p:sp>
        <p:nvSpPr>
          <p:cNvPr id="16" name="Text 12"/>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6"/>
                </a:solidFill>
                <a:latin typeface="Arial" pitchFamily="34" charset="0"/>
                <a:ea typeface="Arial" pitchFamily="34" charset="-122"/>
                <a:cs typeface="Arial" pitchFamily="34" charset="-120"/>
              </a:rPr>
              <a:t>Arbora · Smart solar tree</a:t>
            </a:r>
            <a:endParaRPr lang="en-US" sz="1200" dirty="0"/>
          </a:p>
        </p:txBody>
      </p:sp>
      <p:sp>
        <p:nvSpPr>
          <p:cNvPr id="17"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66"/>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D2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Arial" pitchFamily="34" charset="0"/>
                <a:ea typeface="Arial" pitchFamily="34" charset="-122"/>
                <a:cs typeface="Arial" pitchFamily="34" charset="-120"/>
              </a:rPr>
              <a:t>ENVIRONMENTAL IMPACT</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2E9"/>
                </a:solidFill>
                <a:latin typeface="Arial" pitchFamily="34" charset="0"/>
                <a:ea typeface="Arial" pitchFamily="34" charset="-122"/>
                <a:cs typeface="Arial" pitchFamily="34" charset="-120"/>
              </a:rPr>
              <a:t>Impact per tree, per year</a:t>
            </a:r>
            <a:endParaRPr lang="en-US" sz="3200" dirty="0"/>
          </a:p>
        </p:txBody>
      </p:sp>
      <p:sp>
        <p:nvSpPr>
          <p:cNvPr id="4" name="Shape 2"/>
          <p:cNvSpPr/>
          <p:nvPr/>
        </p:nvSpPr>
        <p:spPr>
          <a:xfrm>
            <a:off x="812800" y="1990675"/>
            <a:ext cx="3386634" cy="0"/>
          </a:xfrm>
          <a:prstGeom prst="line">
            <a:avLst/>
          </a:prstGeom>
          <a:noFill/>
          <a:ln w="19050">
            <a:solidFill>
              <a:srgbClr val="E9A23B"/>
            </a:solidFill>
            <a:prstDash val="solid"/>
          </a:ln>
        </p:spPr>
      </p:sp>
      <p:sp>
        <p:nvSpPr>
          <p:cNvPr id="5" name="Text 3"/>
          <p:cNvSpPr/>
          <p:nvPr/>
        </p:nvSpPr>
        <p:spPr>
          <a:xfrm>
            <a:off x="812800" y="2152600"/>
            <a:ext cx="3488233"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E9A23B"/>
                </a:solidFill>
                <a:latin typeface="Arial" pitchFamily="34" charset="0"/>
                <a:ea typeface="Arial" pitchFamily="34" charset="-122"/>
                <a:cs typeface="Arial" pitchFamily="34" charset="-120"/>
              </a:rPr>
              <a:t>25–85 kg</a:t>
            </a:r>
            <a:endParaRPr lang="en-US" sz="4400" dirty="0"/>
          </a:p>
        </p:txBody>
      </p:sp>
      <p:sp>
        <p:nvSpPr>
          <p:cNvPr id="6" name="Text 4"/>
          <p:cNvSpPr/>
          <p:nvPr/>
        </p:nvSpPr>
        <p:spPr>
          <a:xfrm>
            <a:off x="812800" y="2815530"/>
            <a:ext cx="34882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0DA"/>
                </a:solidFill>
                <a:latin typeface="Arial" pitchFamily="34" charset="0"/>
                <a:ea typeface="Arial" pitchFamily="34" charset="-122"/>
                <a:cs typeface="Arial" pitchFamily="34" charset="-120"/>
              </a:rPr>
              <a:t>CO₂ removed by algae and plants</a:t>
            </a:r>
            <a:endParaRPr lang="en-US" sz="1400" dirty="0"/>
          </a:p>
        </p:txBody>
      </p:sp>
      <p:sp>
        <p:nvSpPr>
          <p:cNvPr id="7" name="Shape 5"/>
          <p:cNvSpPr/>
          <p:nvPr/>
        </p:nvSpPr>
        <p:spPr>
          <a:xfrm>
            <a:off x="4402634" y="1990675"/>
            <a:ext cx="3386683" cy="0"/>
          </a:xfrm>
          <a:prstGeom prst="line">
            <a:avLst/>
          </a:prstGeom>
          <a:noFill/>
          <a:ln w="19050">
            <a:solidFill>
              <a:srgbClr val="E9A23B"/>
            </a:solidFill>
            <a:prstDash val="solid"/>
          </a:ln>
        </p:spPr>
      </p:sp>
      <p:sp>
        <p:nvSpPr>
          <p:cNvPr id="8" name="Text 6"/>
          <p:cNvSpPr/>
          <p:nvPr/>
        </p:nvSpPr>
        <p:spPr>
          <a:xfrm>
            <a:off x="4402634" y="2152600"/>
            <a:ext cx="3488284"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E9A23B"/>
                </a:solidFill>
                <a:latin typeface="Arial" pitchFamily="34" charset="0"/>
                <a:ea typeface="Arial" pitchFamily="34" charset="-122"/>
                <a:cs typeface="Arial" pitchFamily="34" charset="-120"/>
              </a:rPr>
              <a:t>~500 kg</a:t>
            </a:r>
            <a:endParaRPr lang="en-US" sz="4400" dirty="0"/>
          </a:p>
        </p:txBody>
      </p:sp>
      <p:sp>
        <p:nvSpPr>
          <p:cNvPr id="9" name="Text 7"/>
          <p:cNvSpPr/>
          <p:nvPr/>
        </p:nvSpPr>
        <p:spPr>
          <a:xfrm>
            <a:off x="4402634" y="2815530"/>
            <a:ext cx="348828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0DA"/>
                </a:solidFill>
                <a:latin typeface="Arial" pitchFamily="34" charset="0"/>
                <a:ea typeface="Arial" pitchFamily="34" charset="-122"/>
                <a:cs typeface="Arial" pitchFamily="34" charset="-120"/>
              </a:rPr>
              <a:t>CO₂ avoided by solar power, at most, on an average grid*</a:t>
            </a:r>
            <a:endParaRPr lang="en-US" sz="1400" dirty="0"/>
          </a:p>
        </p:txBody>
      </p:sp>
      <p:sp>
        <p:nvSpPr>
          <p:cNvPr id="10" name="Shape 8"/>
          <p:cNvSpPr/>
          <p:nvPr/>
        </p:nvSpPr>
        <p:spPr>
          <a:xfrm>
            <a:off x="7992517" y="1990675"/>
            <a:ext cx="3386683" cy="0"/>
          </a:xfrm>
          <a:prstGeom prst="line">
            <a:avLst/>
          </a:prstGeom>
          <a:noFill/>
          <a:ln w="19050">
            <a:solidFill>
              <a:srgbClr val="E9A23B"/>
            </a:solidFill>
            <a:prstDash val="solid"/>
          </a:ln>
        </p:spPr>
      </p:sp>
      <p:sp>
        <p:nvSpPr>
          <p:cNvPr id="11" name="Text 9"/>
          <p:cNvSpPr/>
          <p:nvPr/>
        </p:nvSpPr>
        <p:spPr>
          <a:xfrm>
            <a:off x="7992517" y="2152600"/>
            <a:ext cx="3488284"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E9A23B"/>
                </a:solidFill>
                <a:latin typeface="Arial" pitchFamily="34" charset="0"/>
                <a:ea typeface="Arial" pitchFamily="34" charset="-122"/>
                <a:cs typeface="Arial" pitchFamily="34" charset="-120"/>
              </a:rPr>
              <a:t>1–4 trees</a:t>
            </a:r>
            <a:endParaRPr lang="en-US" sz="4400" dirty="0"/>
          </a:p>
        </p:txBody>
      </p:sp>
      <p:sp>
        <p:nvSpPr>
          <p:cNvPr id="12" name="Text 10"/>
          <p:cNvSpPr/>
          <p:nvPr/>
        </p:nvSpPr>
        <p:spPr>
          <a:xfrm>
            <a:off x="7992517" y="2815530"/>
            <a:ext cx="348828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0DA"/>
                </a:solidFill>
                <a:latin typeface="Arial" pitchFamily="34" charset="0"/>
                <a:ea typeface="Arial" pitchFamily="34" charset="-122"/>
                <a:cs typeface="Arial" pitchFamily="34" charset="-120"/>
              </a:rPr>
              <a:t>Removal equal to real trees; up to 5–25 with avoided emissions</a:t>
            </a:r>
            <a:endParaRPr lang="en-US" sz="1400" dirty="0"/>
          </a:p>
        </p:txBody>
      </p:sp>
      <p:sp>
        <p:nvSpPr>
          <p:cNvPr id="13" name="Text 11"/>
          <p:cNvSpPr/>
          <p:nvPr/>
        </p:nvSpPr>
        <p:spPr>
          <a:xfrm>
            <a:off x="815975" y="3570486"/>
            <a:ext cx="10560050" cy="697210"/>
          </a:xfrm>
          <a:prstGeom prst="roundRect">
            <a:avLst>
              <a:gd name="adj" fmla="val 14117"/>
            </a:avLst>
          </a:prstGeom>
          <a:solidFill>
            <a:srgbClr val="173A34"/>
          </a:solidFill>
          <a:ln w="6350">
            <a:solidFill>
              <a:srgbClr val="2A5A52"/>
            </a:solidFill>
            <a:prstDash val="solid"/>
          </a:ln>
        </p:spPr>
        <p:txBody>
          <a:bodyPr wrap="square" lIns="228347" tIns="177547" rIns="0" bIns="152147" rtlCol="0" anchor="t">
            <a:normAutofit/>
          </a:bodyPr>
          <a:lstStyle/>
          <a:p>
            <a:pPr algn="l" indent="0" marL="0">
              <a:lnSpc>
                <a:spcPts val="2240"/>
              </a:lnSpc>
              <a:buNone/>
            </a:pPr>
            <a:r>
              <a:rPr lang="en-US" sz="1600" dirty="0">
                <a:solidFill>
                  <a:srgbClr val="F5F2E9"/>
                </a:solidFill>
                <a:latin typeface="Arial" pitchFamily="34" charset="0"/>
                <a:ea typeface="Arial" pitchFamily="34" charset="-122"/>
                <a:cs typeface="Arial" pitchFamily="34" charset="-120"/>
              </a:rPr>
              <a:t>Arbora will not out-remove real trees. Its value is local data, clean power, shade and a visible example.</a:t>
            </a:r>
            <a:endParaRPr lang="en-US" sz="1600" dirty="0"/>
          </a:p>
        </p:txBody>
      </p:sp>
      <p:sp>
        <p:nvSpPr>
          <p:cNvPr id="14" name="Text 12"/>
          <p:cNvSpPr/>
          <p:nvPr/>
        </p:nvSpPr>
        <p:spPr>
          <a:xfrm>
            <a:off x="812800" y="4524871"/>
            <a:ext cx="98107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BB"/>
                </a:solidFill>
                <a:latin typeface="Arial" pitchFamily="34" charset="0"/>
                <a:ea typeface="Arial" pitchFamily="34" charset="-122"/>
                <a:cs typeface="Arial" pitchFamily="34" charset="-120"/>
              </a:rPr>
              <a:t>*Avoided emissions depend on the local grid and are much lower on a hydro-heavy grid like Kyrgyzstan’s. All figures are planning estimates; the MVP will measure real values.</a:t>
            </a:r>
            <a:endParaRPr lang="en-US" sz="1200" dirty="0"/>
          </a:p>
        </p:txBody>
      </p:sp>
      <p:sp>
        <p:nvSpPr>
          <p:cNvPr id="15" name="Text 13"/>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BB"/>
                </a:solidFill>
                <a:latin typeface="Arial" pitchFamily="34" charset="0"/>
                <a:ea typeface="Arial" pitchFamily="34" charset="-122"/>
                <a:cs typeface="Arial" pitchFamily="34" charset="-120"/>
              </a:rPr>
              <a:t>Arbora · Smart solar tree</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BB"/>
                </a:solidFill>
                <a:latin typeface="Arial" pitchFamily="34" charset="0"/>
                <a:ea typeface="Arial" pitchFamily="34" charset="-122"/>
                <a:cs typeface="Arial"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E7A6B"/>
                </a:solidFill>
                <a:latin typeface="Arial" pitchFamily="34" charset="0"/>
                <a:ea typeface="Arial" pitchFamily="34" charset="-122"/>
                <a:cs typeface="Arial" pitchFamily="34" charset="-120"/>
              </a:rPr>
              <a:t>BEYOND CARBON</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302B"/>
                </a:solidFill>
                <a:latin typeface="Arial" pitchFamily="34" charset="0"/>
                <a:ea typeface="Arial" pitchFamily="34" charset="-122"/>
                <a:cs typeface="Arial" pitchFamily="34" charset="-120"/>
              </a:rPr>
              <a:t>Where the real value is</a:t>
            </a:r>
            <a:endParaRPr lang="en-US" sz="3200" dirty="0"/>
          </a:p>
        </p:txBody>
      </p:sp>
      <p:sp>
        <p:nvSpPr>
          <p:cNvPr id="4" name="Shape 2"/>
          <p:cNvSpPr/>
          <p:nvPr/>
        </p:nvSpPr>
        <p:spPr>
          <a:xfrm>
            <a:off x="812800" y="1882725"/>
            <a:ext cx="10566400" cy="0"/>
          </a:xfrm>
          <a:prstGeom prst="line">
            <a:avLst/>
          </a:prstGeom>
          <a:noFill/>
          <a:ln w="6350">
            <a:solidFill>
              <a:srgbClr val="CFC8B4"/>
            </a:solidFill>
            <a:prstDash val="solid"/>
          </a:ln>
        </p:spPr>
      </p:sp>
      <p:sp>
        <p:nvSpPr>
          <p:cNvPr id="5" name="Text 3"/>
          <p:cNvSpPr/>
          <p:nvPr/>
        </p:nvSpPr>
        <p:spPr>
          <a:xfrm>
            <a:off x="812800" y="2063700"/>
            <a:ext cx="366268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302B"/>
                </a:solidFill>
                <a:latin typeface="Arial" pitchFamily="34" charset="0"/>
                <a:ea typeface="Arial" pitchFamily="34" charset="-122"/>
                <a:cs typeface="Arial" pitchFamily="34" charset="-120"/>
              </a:rPr>
              <a:t>Local air data</a:t>
            </a:r>
            <a:endParaRPr lang="en-US" sz="2000" dirty="0"/>
          </a:p>
        </p:txBody>
      </p:sp>
      <p:sp>
        <p:nvSpPr>
          <p:cNvPr id="6" name="Text 4"/>
          <p:cNvSpPr/>
          <p:nvPr/>
        </p:nvSpPr>
        <p:spPr>
          <a:xfrm>
            <a:off x="4673600" y="2063700"/>
            <a:ext cx="690676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05B"/>
                </a:solidFill>
                <a:latin typeface="Arial" pitchFamily="34" charset="0"/>
                <a:ea typeface="Arial" pitchFamily="34" charset="-122"/>
                <a:cs typeface="Arial" pitchFamily="34" charset="-120"/>
              </a:rPr>
              <a:t>Live readings help residents, schools and planners see pollution where it happens.</a:t>
            </a:r>
            <a:endParaRPr lang="en-US" sz="1400" dirty="0"/>
          </a:p>
        </p:txBody>
      </p:sp>
      <p:sp>
        <p:nvSpPr>
          <p:cNvPr id="7" name="Shape 5"/>
          <p:cNvSpPr/>
          <p:nvPr/>
        </p:nvSpPr>
        <p:spPr>
          <a:xfrm>
            <a:off x="812800" y="2549475"/>
            <a:ext cx="10566400" cy="0"/>
          </a:xfrm>
          <a:prstGeom prst="line">
            <a:avLst/>
          </a:prstGeom>
          <a:noFill/>
          <a:ln w="6350">
            <a:solidFill>
              <a:srgbClr val="CFC8B4"/>
            </a:solidFill>
            <a:prstDash val="solid"/>
          </a:ln>
        </p:spPr>
      </p:sp>
      <p:sp>
        <p:nvSpPr>
          <p:cNvPr id="8" name="Text 6"/>
          <p:cNvSpPr/>
          <p:nvPr/>
        </p:nvSpPr>
        <p:spPr>
          <a:xfrm>
            <a:off x="812800" y="2730450"/>
            <a:ext cx="366268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302B"/>
                </a:solidFill>
                <a:latin typeface="Arial" pitchFamily="34" charset="0"/>
                <a:ea typeface="Arial" pitchFamily="34" charset="-122"/>
                <a:cs typeface="Arial" pitchFamily="34" charset="-120"/>
              </a:rPr>
              <a:t>Shade and rain cover</a:t>
            </a:r>
            <a:endParaRPr lang="en-US" sz="2000" dirty="0"/>
          </a:p>
        </p:txBody>
      </p:sp>
      <p:sp>
        <p:nvSpPr>
          <p:cNvPr id="9" name="Text 7"/>
          <p:cNvSpPr/>
          <p:nvPr/>
        </p:nvSpPr>
        <p:spPr>
          <a:xfrm>
            <a:off x="4673600" y="2730450"/>
            <a:ext cx="690676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05B"/>
                </a:solidFill>
                <a:latin typeface="Arial" pitchFamily="34" charset="0"/>
                <a:ea typeface="Arial" pitchFamily="34" charset="-122"/>
                <a:cs typeface="Arial" pitchFamily="34" charset="-120"/>
              </a:rPr>
              <a:t>A cooler, drier place to sit, and the base for future cooling zones.</a:t>
            </a:r>
            <a:endParaRPr lang="en-US" sz="1400" dirty="0"/>
          </a:p>
        </p:txBody>
      </p:sp>
      <p:sp>
        <p:nvSpPr>
          <p:cNvPr id="10" name="Shape 8"/>
          <p:cNvSpPr/>
          <p:nvPr/>
        </p:nvSpPr>
        <p:spPr>
          <a:xfrm>
            <a:off x="812800" y="3216225"/>
            <a:ext cx="10566400" cy="0"/>
          </a:xfrm>
          <a:prstGeom prst="line">
            <a:avLst/>
          </a:prstGeom>
          <a:noFill/>
          <a:ln w="6350">
            <a:solidFill>
              <a:srgbClr val="CFC8B4"/>
            </a:solidFill>
            <a:prstDash val="solid"/>
          </a:ln>
        </p:spPr>
      </p:sp>
      <p:sp>
        <p:nvSpPr>
          <p:cNvPr id="11" name="Text 9"/>
          <p:cNvSpPr/>
          <p:nvPr/>
        </p:nvSpPr>
        <p:spPr>
          <a:xfrm>
            <a:off x="812800" y="3397200"/>
            <a:ext cx="366268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302B"/>
                </a:solidFill>
                <a:latin typeface="Arial" pitchFamily="34" charset="0"/>
                <a:ea typeface="Arial" pitchFamily="34" charset="-122"/>
                <a:cs typeface="Arial" pitchFamily="34" charset="-120"/>
              </a:rPr>
              <a:t>Public charging</a:t>
            </a:r>
            <a:endParaRPr lang="en-US" sz="2000" dirty="0"/>
          </a:p>
        </p:txBody>
      </p:sp>
      <p:sp>
        <p:nvSpPr>
          <p:cNvPr id="12" name="Text 10"/>
          <p:cNvSpPr/>
          <p:nvPr/>
        </p:nvSpPr>
        <p:spPr>
          <a:xfrm>
            <a:off x="4673600" y="3397200"/>
            <a:ext cx="690676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05B"/>
                </a:solidFill>
                <a:latin typeface="Arial" pitchFamily="34" charset="0"/>
                <a:ea typeface="Arial" pitchFamily="34" charset="-122"/>
                <a:cs typeface="Arial" pitchFamily="34" charset="-120"/>
              </a:rPr>
              <a:t>Benches with USB-C draw on the tree’s own solar power.</a:t>
            </a:r>
            <a:endParaRPr lang="en-US" sz="1400" dirty="0"/>
          </a:p>
        </p:txBody>
      </p:sp>
      <p:sp>
        <p:nvSpPr>
          <p:cNvPr id="13" name="Shape 11"/>
          <p:cNvSpPr/>
          <p:nvPr/>
        </p:nvSpPr>
        <p:spPr>
          <a:xfrm>
            <a:off x="812800" y="3882975"/>
            <a:ext cx="10566400" cy="0"/>
          </a:xfrm>
          <a:prstGeom prst="line">
            <a:avLst/>
          </a:prstGeom>
          <a:noFill/>
          <a:ln w="6350">
            <a:solidFill>
              <a:srgbClr val="CFC8B4"/>
            </a:solidFill>
            <a:prstDash val="solid"/>
          </a:ln>
        </p:spPr>
      </p:sp>
      <p:sp>
        <p:nvSpPr>
          <p:cNvPr id="14" name="Text 12"/>
          <p:cNvSpPr/>
          <p:nvPr/>
        </p:nvSpPr>
        <p:spPr>
          <a:xfrm>
            <a:off x="812800" y="4063950"/>
            <a:ext cx="366268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302B"/>
                </a:solidFill>
                <a:latin typeface="Arial" pitchFamily="34" charset="0"/>
                <a:ea typeface="Arial" pitchFamily="34" charset="-122"/>
                <a:cs typeface="Arial" pitchFamily="34" charset="-120"/>
              </a:rPr>
              <a:t>A visible example</a:t>
            </a:r>
            <a:endParaRPr lang="en-US" sz="2000" dirty="0"/>
          </a:p>
        </p:txBody>
      </p:sp>
      <p:sp>
        <p:nvSpPr>
          <p:cNvPr id="15" name="Text 13"/>
          <p:cNvSpPr/>
          <p:nvPr/>
        </p:nvSpPr>
        <p:spPr>
          <a:xfrm>
            <a:off x="4673600" y="4063950"/>
            <a:ext cx="690676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05B"/>
                </a:solidFill>
                <a:latin typeface="Arial" pitchFamily="34" charset="0"/>
                <a:ea typeface="Arial" pitchFamily="34" charset="-122"/>
                <a:cs typeface="Arial" pitchFamily="34" charset="-120"/>
              </a:rPr>
              <a:t>People see clean energy and clean air working in their own street.</a:t>
            </a:r>
            <a:endParaRPr lang="en-US" sz="1400" dirty="0"/>
          </a:p>
        </p:txBody>
      </p:sp>
      <p:sp>
        <p:nvSpPr>
          <p:cNvPr id="16" name="Text 14"/>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6"/>
                </a:solidFill>
                <a:latin typeface="Arial" pitchFamily="34" charset="0"/>
                <a:ea typeface="Arial" pitchFamily="34" charset="-122"/>
                <a:cs typeface="Arial" pitchFamily="34" charset="-120"/>
              </a:rPr>
              <a:t>Arbora · Smart solar tree</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66"/>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E5D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E7A6B"/>
                </a:solidFill>
                <a:latin typeface="Arial" pitchFamily="34" charset="0"/>
                <a:ea typeface="Arial" pitchFamily="34" charset="-122"/>
                <a:cs typeface="Arial" pitchFamily="34" charset="-120"/>
              </a:rPr>
              <a:t>CONNECTED</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302B"/>
                </a:solidFill>
                <a:latin typeface="Arial" pitchFamily="34" charset="0"/>
                <a:ea typeface="Arial" pitchFamily="34" charset="-122"/>
                <a:cs typeface="Arial" pitchFamily="34" charset="-120"/>
              </a:rPr>
              <a:t>Website now, apps next</a:t>
            </a:r>
            <a:endParaRPr lang="en-US" sz="3200" dirty="0"/>
          </a:p>
        </p:txBody>
      </p:sp>
      <p:sp>
        <p:nvSpPr>
          <p:cNvPr id="4" name="Text 2"/>
          <p:cNvSpPr/>
          <p:nvPr/>
        </p:nvSpPr>
        <p:spPr>
          <a:xfrm>
            <a:off x="812800" y="1930350"/>
            <a:ext cx="2146300" cy="640060"/>
          </a:xfrm>
          <a:prstGeom prst="roundRect">
            <a:avLst>
              <a:gd name="adj" fmla="val 15874"/>
            </a:avLst>
          </a:prstGeom>
          <a:solidFill>
            <a:srgbClr val="16302B"/>
          </a:solidFill>
          <a:ln/>
        </p:spPr>
        <p:txBody>
          <a:bodyPr wrap="square" lIns="68858" tIns="148042" rIns="68858" bIns="122642" rtlCol="0" anchor="t">
            <a:normAutofit/>
          </a:bodyPr>
          <a:lstStyle/>
          <a:p>
            <a:pPr algn="ctr" indent="0" marL="0">
              <a:lnSpc>
                <a:spcPts val="2240"/>
              </a:lnSpc>
              <a:buNone/>
            </a:pPr>
            <a:r>
              <a:rPr lang="en-US" sz="1600" b="1" dirty="0">
                <a:solidFill>
                  <a:srgbClr val="F5F2E9"/>
                </a:solidFill>
                <a:latin typeface="Arial" pitchFamily="34" charset="0"/>
                <a:ea typeface="Arial" pitchFamily="34" charset="-122"/>
                <a:cs typeface="Arial" pitchFamily="34" charset="-120"/>
              </a:rPr>
              <a:t>Tree sensors</a:t>
            </a:r>
            <a:endParaRPr lang="en-US" sz="1600" dirty="0"/>
          </a:p>
        </p:txBody>
      </p:sp>
      <p:pic>
        <p:nvPicPr>
          <p:cNvPr id="5" name="Image 0" descr="arrow-right">    </p:cNvPr>
          <p:cNvPicPr>
            <a:picLocks noChangeAspect="1"/>
          </p:cNvPicPr>
          <p:nvPr/>
        </p:nvPicPr>
        <p:blipFill>
          <a:blip r:embed="rId1"/>
          <a:srcRect l="0" r="0" t="0" b="0"/>
          <a:stretch/>
        </p:blipFill>
        <p:spPr>
          <a:xfrm>
            <a:off x="3086100" y="2123380"/>
            <a:ext cx="406400" cy="254000"/>
          </a:xfrm>
          <a:prstGeom prst="rect">
            <a:avLst/>
          </a:prstGeom>
        </p:spPr>
      </p:pic>
      <p:sp>
        <p:nvSpPr>
          <p:cNvPr id="6" name="Text 3"/>
          <p:cNvSpPr/>
          <p:nvPr/>
        </p:nvSpPr>
        <p:spPr>
          <a:xfrm>
            <a:off x="3619500" y="1930350"/>
            <a:ext cx="2146300" cy="640060"/>
          </a:xfrm>
          <a:prstGeom prst="roundRect">
            <a:avLst>
              <a:gd name="adj" fmla="val 15874"/>
            </a:avLst>
          </a:prstGeom>
          <a:solidFill>
            <a:srgbClr val="16302B"/>
          </a:solidFill>
          <a:ln/>
        </p:spPr>
        <p:txBody>
          <a:bodyPr wrap="square" lIns="68858" tIns="148042" rIns="68858" bIns="122642" rtlCol="0" anchor="t">
            <a:normAutofit/>
          </a:bodyPr>
          <a:lstStyle/>
          <a:p>
            <a:pPr algn="ctr" indent="0" marL="0">
              <a:lnSpc>
                <a:spcPts val="2240"/>
              </a:lnSpc>
              <a:buNone/>
            </a:pPr>
            <a:r>
              <a:rPr lang="en-US" sz="1600" b="1" dirty="0">
                <a:solidFill>
                  <a:srgbClr val="F5F2E9"/>
                </a:solidFill>
                <a:latin typeface="Arial" pitchFamily="34" charset="0"/>
                <a:ea typeface="Arial" pitchFamily="34" charset="-122"/>
                <a:cs typeface="Arial" pitchFamily="34" charset="-120"/>
              </a:rPr>
              <a:t>Cloud database</a:t>
            </a:r>
            <a:endParaRPr lang="en-US" sz="1600" dirty="0"/>
          </a:p>
        </p:txBody>
      </p:sp>
      <p:pic>
        <p:nvPicPr>
          <p:cNvPr id="7" name="Image 1" descr="arrow-right">    </p:cNvPr>
          <p:cNvPicPr>
            <a:picLocks noChangeAspect="1"/>
          </p:cNvPicPr>
          <p:nvPr/>
        </p:nvPicPr>
        <p:blipFill>
          <a:blip r:embed="rId2"/>
          <a:srcRect l="0" r="0" t="0" b="0"/>
          <a:stretch/>
        </p:blipFill>
        <p:spPr>
          <a:xfrm>
            <a:off x="5892800" y="2123380"/>
            <a:ext cx="406400" cy="254000"/>
          </a:xfrm>
          <a:prstGeom prst="rect">
            <a:avLst/>
          </a:prstGeom>
        </p:spPr>
      </p:pic>
      <p:sp>
        <p:nvSpPr>
          <p:cNvPr id="8" name="Text 4"/>
          <p:cNvSpPr/>
          <p:nvPr/>
        </p:nvSpPr>
        <p:spPr>
          <a:xfrm>
            <a:off x="6426200" y="1930350"/>
            <a:ext cx="2146300" cy="640060"/>
          </a:xfrm>
          <a:prstGeom prst="roundRect">
            <a:avLst>
              <a:gd name="adj" fmla="val 15874"/>
            </a:avLst>
          </a:prstGeom>
          <a:solidFill>
            <a:srgbClr val="2A9D8A"/>
          </a:solidFill>
          <a:ln/>
        </p:spPr>
        <p:txBody>
          <a:bodyPr wrap="square" lIns="68858" tIns="148042" rIns="68858" bIns="122642" rtlCol="0" anchor="t">
            <a:normAutofit/>
          </a:bodyPr>
          <a:lstStyle/>
          <a:p>
            <a:pPr algn="ctr" indent="0" marL="0">
              <a:lnSpc>
                <a:spcPts val="2240"/>
              </a:lnSpc>
              <a:buNone/>
            </a:pPr>
            <a:r>
              <a:rPr lang="en-US" sz="1600" b="1" dirty="0">
                <a:solidFill>
                  <a:srgbClr val="0F2D28"/>
                </a:solidFill>
                <a:latin typeface="Arial" pitchFamily="34" charset="0"/>
                <a:ea typeface="Arial" pitchFamily="34" charset="-122"/>
                <a:cs typeface="Arial" pitchFamily="34" charset="-120"/>
              </a:rPr>
              <a:t>Website</a:t>
            </a:r>
            <a:endParaRPr lang="en-US" sz="1600" dirty="0"/>
          </a:p>
        </p:txBody>
      </p:sp>
      <p:pic>
        <p:nvPicPr>
          <p:cNvPr id="9" name="Image 2" descr="arrow-right">    </p:cNvPr>
          <p:cNvPicPr>
            <a:picLocks noChangeAspect="1"/>
          </p:cNvPicPr>
          <p:nvPr/>
        </p:nvPicPr>
        <p:blipFill>
          <a:blip r:embed="rId3"/>
          <a:srcRect l="0" r="0" t="0" b="0"/>
          <a:stretch/>
        </p:blipFill>
        <p:spPr>
          <a:xfrm>
            <a:off x="8699500" y="2123380"/>
            <a:ext cx="406400" cy="254000"/>
          </a:xfrm>
          <a:prstGeom prst="rect">
            <a:avLst/>
          </a:prstGeom>
        </p:spPr>
      </p:pic>
      <p:sp>
        <p:nvSpPr>
          <p:cNvPr id="10" name="Text 5"/>
          <p:cNvSpPr/>
          <p:nvPr/>
        </p:nvSpPr>
        <p:spPr>
          <a:xfrm>
            <a:off x="9232900" y="1930350"/>
            <a:ext cx="2146300" cy="640060"/>
          </a:xfrm>
          <a:prstGeom prst="roundRect">
            <a:avLst>
              <a:gd name="adj" fmla="val 15874"/>
            </a:avLst>
          </a:prstGeom>
          <a:solidFill>
            <a:srgbClr val="E9A23B"/>
          </a:solidFill>
          <a:ln/>
        </p:spPr>
        <p:txBody>
          <a:bodyPr wrap="square" lIns="68858" tIns="148042" rIns="68858" bIns="122642" rtlCol="0" anchor="t">
            <a:normAutofit/>
          </a:bodyPr>
          <a:lstStyle/>
          <a:p>
            <a:pPr algn="ctr" indent="0" marL="0">
              <a:lnSpc>
                <a:spcPts val="2240"/>
              </a:lnSpc>
              <a:buNone/>
            </a:pPr>
            <a:r>
              <a:rPr lang="en-US" sz="1600" b="1" dirty="0">
                <a:solidFill>
                  <a:srgbClr val="0F2D28"/>
                </a:solidFill>
                <a:latin typeface="Arial" pitchFamily="34" charset="0"/>
                <a:ea typeface="Arial" pitchFamily="34" charset="-122"/>
                <a:cs typeface="Arial" pitchFamily="34" charset="-120"/>
              </a:rPr>
              <a:t>App</a:t>
            </a:r>
            <a:endParaRPr lang="en-US" sz="1600" dirty="0"/>
          </a:p>
        </p:txBody>
      </p:sp>
      <p:sp>
        <p:nvSpPr>
          <p:cNvPr id="11" name="Shape 6"/>
          <p:cNvSpPr/>
          <p:nvPr/>
        </p:nvSpPr>
        <p:spPr>
          <a:xfrm>
            <a:off x="815975" y="2802186"/>
            <a:ext cx="5175250" cy="1835001"/>
          </a:xfrm>
          <a:prstGeom prst="roundRect">
            <a:avLst>
              <a:gd name="adj" fmla="val 5364"/>
            </a:avLst>
          </a:prstGeom>
          <a:solidFill>
            <a:srgbClr val="FBFAF5"/>
          </a:solidFill>
          <a:ln w="6350">
            <a:solidFill>
              <a:srgbClr val="D3CCB8"/>
            </a:solidFill>
            <a:prstDash val="solid"/>
          </a:ln>
        </p:spPr>
      </p:sp>
      <p:sp>
        <p:nvSpPr>
          <p:cNvPr id="12" name="Text 7"/>
          <p:cNvSpPr/>
          <p:nvPr/>
        </p:nvSpPr>
        <p:spPr>
          <a:xfrm>
            <a:off x="1047750" y="3033961"/>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Arial" pitchFamily="34" charset="0"/>
                <a:ea typeface="Arial" pitchFamily="34" charset="-122"/>
                <a:cs typeface="Arial" pitchFamily="34" charset="-120"/>
              </a:rPr>
              <a:t>Website (MVP)</a:t>
            </a:r>
            <a:endParaRPr lang="en-US" sz="1800" dirty="0"/>
          </a:p>
        </p:txBody>
      </p:sp>
      <p:sp>
        <p:nvSpPr>
          <p:cNvPr id="13" name="Text 8"/>
          <p:cNvSpPr/>
          <p:nvPr/>
        </p:nvSpPr>
        <p:spPr>
          <a:xfrm>
            <a:off x="1145032" y="3409851"/>
            <a:ext cx="4748149" cy="1020961"/>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Live air quality and history charts</a:t>
            </a:r>
            <a:endParaRPr lang="en-US" sz="1400" dirty="0"/>
          </a:p>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Solar output and battery level</a:t>
            </a:r>
            <a:endParaRPr lang="en-US" sz="1400" dirty="0"/>
          </a:p>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Impact counters, labeled measured or estimated</a:t>
            </a:r>
            <a:endParaRPr lang="en-US" sz="1400" dirty="0"/>
          </a:p>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Map, about page and sponsor contact</a:t>
            </a:r>
            <a:endParaRPr lang="en-US" sz="1400" dirty="0"/>
          </a:p>
        </p:txBody>
      </p:sp>
      <p:sp>
        <p:nvSpPr>
          <p:cNvPr id="14" name="Shape 9"/>
          <p:cNvSpPr/>
          <p:nvPr/>
        </p:nvSpPr>
        <p:spPr>
          <a:xfrm>
            <a:off x="6200775" y="2802186"/>
            <a:ext cx="5175250" cy="1835001"/>
          </a:xfrm>
          <a:prstGeom prst="roundRect">
            <a:avLst>
              <a:gd name="adj" fmla="val 5364"/>
            </a:avLst>
          </a:prstGeom>
          <a:solidFill>
            <a:srgbClr val="FBFAF5"/>
          </a:solidFill>
          <a:ln w="6350">
            <a:solidFill>
              <a:srgbClr val="D3CCB8"/>
            </a:solidFill>
            <a:prstDash val="solid"/>
          </a:ln>
        </p:spPr>
      </p:sp>
      <p:sp>
        <p:nvSpPr>
          <p:cNvPr id="15" name="Text 10"/>
          <p:cNvSpPr/>
          <p:nvPr/>
        </p:nvSpPr>
        <p:spPr>
          <a:xfrm>
            <a:off x="6432550" y="3033961"/>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Arial" pitchFamily="34" charset="0"/>
                <a:ea typeface="Arial" pitchFamily="34" charset="-122"/>
                <a:cs typeface="Arial" pitchFamily="34" charset="-120"/>
              </a:rPr>
              <a:t>Apps (later)</a:t>
            </a:r>
            <a:endParaRPr lang="en-US" sz="1800" dirty="0"/>
          </a:p>
        </p:txBody>
      </p:sp>
      <p:sp>
        <p:nvSpPr>
          <p:cNvPr id="16" name="Text 11"/>
          <p:cNvSpPr/>
          <p:nvPr/>
        </p:nvSpPr>
        <p:spPr>
          <a:xfrm>
            <a:off x="6529832" y="3409851"/>
            <a:ext cx="4748149" cy="1020961"/>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Air alerts by push notification</a:t>
            </a:r>
            <a:endParaRPr lang="en-US" sz="1400" dirty="0"/>
          </a:p>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Find shade, charging and clean-air spots</a:t>
            </a:r>
            <a:endParaRPr lang="en-US" sz="1400" dirty="0"/>
          </a:p>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City-wide air map from many trees</a:t>
            </a:r>
            <a:endParaRPr lang="en-US" sz="1400" dirty="0"/>
          </a:p>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Maintenance reports from residents</a:t>
            </a:r>
            <a:endParaRPr lang="en-US" sz="1400" dirty="0"/>
          </a:p>
        </p:txBody>
      </p:sp>
      <p:sp>
        <p:nvSpPr>
          <p:cNvPr id="17" name="Text 12"/>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6"/>
                </a:solidFill>
                <a:latin typeface="Arial" pitchFamily="34" charset="0"/>
                <a:ea typeface="Arial" pitchFamily="34" charset="-122"/>
                <a:cs typeface="Arial" pitchFamily="34" charset="-120"/>
              </a:rPr>
              <a:t>Arbora · Smart solar tree</a:t>
            </a:r>
            <a:endParaRPr lang="en-US" sz="1200" dirty="0"/>
          </a:p>
        </p:txBody>
      </p:sp>
      <p:sp>
        <p:nvSpPr>
          <p:cNvPr id="18"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66"/>
                </a:solidFill>
                <a:latin typeface="Arial" pitchFamily="34" charset="0"/>
                <a:ea typeface="Arial" pitchFamily="34" charset="-122"/>
                <a:cs typeface="Arial"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E7A6B"/>
                </a:solidFill>
                <a:latin typeface="Arial" pitchFamily="34" charset="0"/>
                <a:ea typeface="Arial" pitchFamily="34" charset="-122"/>
                <a:cs typeface="Arial" pitchFamily="34" charset="-120"/>
              </a:rPr>
              <a:t>COST</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302B"/>
                </a:solidFill>
                <a:latin typeface="Arial" pitchFamily="34" charset="0"/>
                <a:ea typeface="Arial" pitchFamily="34" charset="-122"/>
                <a:cs typeface="Arial" pitchFamily="34" charset="-120"/>
              </a:rPr>
              <a:t>What it costs to build and to buy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2702074"/>
        </p:xfrm>
        <a:graphic>
          <a:graphicData uri="http://schemas.openxmlformats.org/drawingml/2006/table">
            <a:tbl>
              <a:tblPr/>
              <a:tblGrid>
                <a:gridCol w="3377184"/>
                <a:gridCol w="2532888"/>
                <a:gridCol w="4643628"/>
              </a:tblGrid>
              <a:tr h="386011">
                <a:tc>
                  <a:txBody>
                    <a:bodyPr/>
                    <a:lstStyle/>
                    <a:p>
                      <a:pPr indent="0" marL="0">
                        <a:lnSpc>
                          <a:spcPts val="1960"/>
                        </a:lnSpc>
                        <a:buNone/>
                      </a:pPr>
                      <a:r>
                        <a:rPr lang="en-US" sz="1400" b="1" dirty="0">
                          <a:solidFill>
                            <a:srgbClr val="16302B"/>
                          </a:solidFill>
                          <a:latin typeface="Arial" pitchFamily="34" charset="0"/>
                          <a:ea typeface="Arial" pitchFamily="34" charset="-122"/>
                          <a:cs typeface="Arial" pitchFamily="34" charset="-120"/>
                        </a:rPr>
                        <a:t>Item</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8"/>
                    </a:solidFill>
                  </a:tcPr>
                </a:tc>
                <a:tc>
                  <a:txBody>
                    <a:bodyPr/>
                    <a:lstStyle/>
                    <a:p>
                      <a:pPr indent="0" marL="0">
                        <a:lnSpc>
                          <a:spcPts val="1960"/>
                        </a:lnSpc>
                        <a:buNone/>
                      </a:pPr>
                      <a:r>
                        <a:rPr lang="en-US" sz="1400" b="1" dirty="0">
                          <a:solidFill>
                            <a:srgbClr val="16302B"/>
                          </a:solidFill>
                          <a:latin typeface="Arial" pitchFamily="34" charset="0"/>
                          <a:ea typeface="Arial" pitchFamily="34" charset="-122"/>
                          <a:cs typeface="Arial" pitchFamily="34" charset="-120"/>
                        </a:rPr>
                        <a:t>Cost (USD)</a:t>
                      </a:r>
                      <a:endParaRPr lang="en-US" sz="1400" dirty="0">
                        <a:latin typeface="Arial" charset="0"/>
                        <a:ea typeface="Arial" charset="0"/>
                        <a:cs typeface="Arial" charset="0"/>
                      </a:endParaRPr>
                    </a:p>
                  </a:txBody>
                  <a:tcPr marL="62230" marR="62230" marT="62230" marB="6223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8"/>
                    </a:solidFill>
                  </a:tcPr>
                </a:tc>
                <a:tc>
                  <a:txBody>
                    <a:bodyPr/>
                    <a:lstStyle/>
                    <a:p>
                      <a:pPr indent="0" marL="0">
                        <a:lnSpc>
                          <a:spcPts val="1960"/>
                        </a:lnSpc>
                        <a:buNone/>
                      </a:pPr>
                      <a:r>
                        <a:rPr lang="en-US" sz="1400" b="1" dirty="0">
                          <a:solidFill>
                            <a:srgbClr val="16302B"/>
                          </a:solidFill>
                          <a:latin typeface="Arial" pitchFamily="34" charset="0"/>
                          <a:ea typeface="Arial" pitchFamily="34" charset="-122"/>
                          <a:cs typeface="Arial" pitchFamily="34" charset="-120"/>
                        </a:rPr>
                        <a:t>Note</a:t>
                      </a:r>
                      <a:endParaRPr lang="en-US" sz="1400" dirty="0">
                        <a:latin typeface="Arial" charset="0"/>
                        <a:ea typeface="Arial" charset="0"/>
                        <a:cs typeface="Arial" charset="0"/>
                      </a:endParaRPr>
                    </a:p>
                  </a:txBody>
                  <a:tcPr marL="62230" marR="62230" marT="62230" marB="6223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8"/>
                    </a:solidFill>
                  </a:tcPr>
                </a:tc>
              </a:tr>
              <a:tr h="386011">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DIY hardware</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$2,400–5,600</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Own labor; a smaller solar array cuts it further</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Professional prototype</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$10,000–25,000</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Fabrication, software and engineering</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Price, pilot units</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$12,000–18,000</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First 1–10 units</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Price at scale</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$8,000–12,000</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100 or more units</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Sponsorship lease</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$300–500 per month</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Sponsor’s brand on the tree</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Running costs</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$300–800 per year</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c>
                  <a:txBody>
                    <a:bodyPr/>
                    <a:lstStyle/>
                    <a:p>
                      <a:pPr indent="0" marL="0">
                        <a:lnSpc>
                          <a:spcPts val="1960"/>
                        </a:lnSpc>
                        <a:buNone/>
                      </a:pPr>
                      <a:r>
                        <a:rPr lang="en-US" sz="1400" dirty="0">
                          <a:solidFill>
                            <a:srgbClr val="16302B"/>
                          </a:solidFill>
                          <a:latin typeface="Arial" pitchFamily="34" charset="0"/>
                          <a:ea typeface="Arial" pitchFamily="34" charset="-122"/>
                          <a:cs typeface="Arial" pitchFamily="34" charset="-120"/>
                        </a:rPr>
                        <a:t>Cleaning, algae care, calibration</a:t>
                      </a:r>
                      <a:endParaRPr lang="en-US" sz="1400" dirty="0">
                        <a:latin typeface="Arial" charset="0"/>
                        <a:ea typeface="Arial" charset="0"/>
                        <a:cs typeface="Arial" charset="0"/>
                      </a:endParaRPr>
                    </a:p>
                  </a:txBody>
                  <a:tcPr marL="62230" marR="62230" marT="62230" marB="6223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4C1BA"/>
                      </a:solidFill>
                      <a:prstDash val="solid"/>
                      <a:round/>
                      <a:headEnd type="none" w="med" len="med"/>
                      <a:tailEnd type="none" w="med" len="med"/>
                    </a:lnB>
                  </a:tcPr>
                </a:tc>
              </a:tr>
            </a:tbl>
          </a:graphicData>
        </a:graphic>
      </p:graphicFrame>
      <p:sp>
        <p:nvSpPr>
          <p:cNvPr id="5" name="Text 2"/>
          <p:cNvSpPr/>
          <p:nvPr/>
        </p:nvSpPr>
        <p:spPr>
          <a:xfrm>
            <a:off x="812800" y="4797524"/>
            <a:ext cx="981075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05B"/>
                </a:solidFill>
                <a:latin typeface="Arial" pitchFamily="34" charset="0"/>
                <a:ea typeface="Arial" pitchFamily="34" charset="-122"/>
                <a:cs typeface="Arial" pitchFamily="34" charset="-120"/>
              </a:rPr>
              <a:t>For comparison, a reference-grade air monitoring station alone typically costs $10,000–40,000. Figures are planning estimates; confirm with local supplier quotes.</a:t>
            </a:r>
            <a:endParaRPr lang="en-US" sz="1400" dirty="0"/>
          </a:p>
        </p:txBody>
      </p:sp>
      <p:sp>
        <p:nvSpPr>
          <p:cNvPr id="6" name="Text 3"/>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6"/>
                </a:solidFill>
                <a:latin typeface="Arial" pitchFamily="34" charset="0"/>
                <a:ea typeface="Arial" pitchFamily="34" charset="-122"/>
                <a:cs typeface="Arial" pitchFamily="34" charset="-120"/>
              </a:rPr>
              <a:t>Arbora · Smart solar tree</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66"/>
                </a:solidFill>
                <a:latin typeface="Arial" pitchFamily="34" charset="0"/>
                <a:ea typeface="Arial" pitchFamily="34" charset="-122"/>
                <a:cs typeface="Arial"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D2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Arial" pitchFamily="34" charset="0"/>
                <a:ea typeface="Arial" pitchFamily="34" charset="-122"/>
                <a:cs typeface="Arial" pitchFamily="34" charset="-120"/>
              </a:rPr>
              <a:t>CUSTOMERS AND REVENUE</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2E9"/>
                </a:solidFill>
                <a:latin typeface="Arial" pitchFamily="34" charset="0"/>
                <a:ea typeface="Arial" pitchFamily="34" charset="-122"/>
                <a:cs typeface="Arial" pitchFamily="34" charset="-120"/>
              </a:rPr>
              <a:t>Who it is for and how it earns</a:t>
            </a:r>
            <a:endParaRPr lang="en-US" sz="3200" dirty="0"/>
          </a:p>
        </p:txBody>
      </p:sp>
      <p:sp>
        <p:nvSpPr>
          <p:cNvPr id="4" name="Shape 2"/>
          <p:cNvSpPr/>
          <p:nvPr/>
        </p:nvSpPr>
        <p:spPr>
          <a:xfrm>
            <a:off x="815975" y="1984325"/>
            <a:ext cx="5175250" cy="2051050"/>
          </a:xfrm>
          <a:prstGeom prst="roundRect">
            <a:avLst>
              <a:gd name="adj" fmla="val 4799"/>
            </a:avLst>
          </a:prstGeom>
          <a:solidFill>
            <a:srgbClr val="173A34"/>
          </a:solidFill>
          <a:ln w="6350">
            <a:solidFill>
              <a:srgbClr val="2A5A52"/>
            </a:solidFill>
            <a:prstDash val="solid"/>
          </a:ln>
        </p:spPr>
      </p:sp>
      <p:sp>
        <p:nvSpPr>
          <p:cNvPr id="5" name="Text 3"/>
          <p:cNvSpPr/>
          <p:nvPr/>
        </p:nvSpPr>
        <p:spPr>
          <a:xfrm>
            <a:off x="1073150" y="224150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A23B"/>
                </a:solidFill>
                <a:latin typeface="Arial" pitchFamily="34" charset="0"/>
                <a:ea typeface="Arial" pitchFamily="34" charset="-122"/>
                <a:cs typeface="Arial" pitchFamily="34" charset="-120"/>
              </a:rPr>
              <a:t>Customers</a:t>
            </a:r>
            <a:endParaRPr lang="en-US" sz="2000" dirty="0"/>
          </a:p>
        </p:txBody>
      </p:sp>
      <p:sp>
        <p:nvSpPr>
          <p:cNvPr id="6" name="Text 4"/>
          <p:cNvSpPr/>
          <p:nvPr/>
        </p:nvSpPr>
        <p:spPr>
          <a:xfrm>
            <a:off x="1156970" y="2673300"/>
            <a:ext cx="4709287" cy="854075"/>
          </a:xfrm>
          <a:prstGeom prst="rect">
            <a:avLst/>
          </a:prstGeom>
          <a:noFill/>
          <a:ln/>
        </p:spPr>
        <p:txBody>
          <a:bodyPr wrap="square" lIns="0" tIns="0" rIns="0" bIns="0" rtlCol="0" anchor="t">
            <a:normAutofit/>
          </a:bodyPr>
          <a:lstStyle/>
          <a:p>
            <a:pPr algn="l" marL="170180" indent="-170180">
              <a:lnSpc>
                <a:spcPts val="2175"/>
              </a:lnSpc>
              <a:buSzPct val="100000"/>
              <a:buChar char="•"/>
            </a:pPr>
            <a:r>
              <a:rPr lang="en-US" sz="1500" dirty="0">
                <a:solidFill>
                  <a:srgbClr val="F5F2E9"/>
                </a:solidFill>
                <a:latin typeface="Arial" pitchFamily="34" charset="0"/>
                <a:ea typeface="Arial" pitchFamily="34" charset="-122"/>
                <a:cs typeface="Arial" pitchFamily="34" charset="-120"/>
              </a:rPr>
              <a:t>City governments and public transport</a:t>
            </a:r>
            <a:endParaRPr lang="en-US" sz="1500" dirty="0"/>
          </a:p>
          <a:p>
            <a:pPr algn="l" marL="170180" indent="-170180">
              <a:lnSpc>
                <a:spcPts val="2175"/>
              </a:lnSpc>
              <a:buSzPct val="100000"/>
              <a:buChar char="•"/>
            </a:pPr>
            <a:r>
              <a:rPr lang="en-US" sz="1500" dirty="0">
                <a:solidFill>
                  <a:srgbClr val="F5F2E9"/>
                </a:solidFill>
                <a:latin typeface="Arial" pitchFamily="34" charset="0"/>
                <a:ea typeface="Arial" pitchFamily="34" charset="-122"/>
                <a:cs typeface="Arial" pitchFamily="34" charset="-120"/>
              </a:rPr>
              <a:t>Companies that sponsor a tree with their brand</a:t>
            </a:r>
            <a:endParaRPr lang="en-US" sz="1500" dirty="0"/>
          </a:p>
          <a:p>
            <a:pPr algn="l" marL="170180" indent="-170180">
              <a:lnSpc>
                <a:spcPts val="2175"/>
              </a:lnSpc>
              <a:buSzPct val="100000"/>
              <a:buChar char="•"/>
            </a:pPr>
            <a:r>
              <a:rPr lang="en-US" sz="1500" dirty="0">
                <a:solidFill>
                  <a:srgbClr val="F5F2E9"/>
                </a:solidFill>
                <a:latin typeface="Arial" pitchFamily="34" charset="0"/>
                <a:ea typeface="Arial" pitchFamily="34" charset="-122"/>
                <a:cs typeface="Arial" pitchFamily="34" charset="-120"/>
              </a:rPr>
              <a:t>Schools, universities, parks and malls</a:t>
            </a:r>
            <a:endParaRPr lang="en-US" sz="1500" dirty="0"/>
          </a:p>
        </p:txBody>
      </p:sp>
      <p:sp>
        <p:nvSpPr>
          <p:cNvPr id="7" name="Shape 5"/>
          <p:cNvSpPr/>
          <p:nvPr/>
        </p:nvSpPr>
        <p:spPr>
          <a:xfrm>
            <a:off x="6200775" y="1984325"/>
            <a:ext cx="5175250" cy="2051050"/>
          </a:xfrm>
          <a:prstGeom prst="roundRect">
            <a:avLst>
              <a:gd name="adj" fmla="val 4799"/>
            </a:avLst>
          </a:prstGeom>
          <a:solidFill>
            <a:srgbClr val="173A34"/>
          </a:solidFill>
          <a:ln w="6350">
            <a:solidFill>
              <a:srgbClr val="2A5A52"/>
            </a:solidFill>
            <a:prstDash val="solid"/>
          </a:ln>
        </p:spPr>
      </p:sp>
      <p:sp>
        <p:nvSpPr>
          <p:cNvPr id="8" name="Text 6"/>
          <p:cNvSpPr/>
          <p:nvPr/>
        </p:nvSpPr>
        <p:spPr>
          <a:xfrm>
            <a:off x="6457950" y="224150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A23B"/>
                </a:solidFill>
                <a:latin typeface="Arial" pitchFamily="34" charset="0"/>
                <a:ea typeface="Arial" pitchFamily="34" charset="-122"/>
                <a:cs typeface="Arial" pitchFamily="34" charset="-120"/>
              </a:rPr>
              <a:t>Revenue</a:t>
            </a:r>
            <a:endParaRPr lang="en-US" sz="2000" dirty="0"/>
          </a:p>
        </p:txBody>
      </p:sp>
      <p:sp>
        <p:nvSpPr>
          <p:cNvPr id="9" name="Text 7"/>
          <p:cNvSpPr/>
          <p:nvPr/>
        </p:nvSpPr>
        <p:spPr>
          <a:xfrm>
            <a:off x="6541770" y="2673300"/>
            <a:ext cx="4709287" cy="1130300"/>
          </a:xfrm>
          <a:prstGeom prst="rect">
            <a:avLst/>
          </a:prstGeom>
          <a:noFill/>
          <a:ln/>
        </p:spPr>
        <p:txBody>
          <a:bodyPr wrap="square" lIns="0" tIns="0" rIns="0" bIns="0" rtlCol="0" anchor="t">
            <a:normAutofit/>
          </a:bodyPr>
          <a:lstStyle/>
          <a:p>
            <a:pPr algn="l" marL="170180" indent="-170180">
              <a:lnSpc>
                <a:spcPts val="2175"/>
              </a:lnSpc>
              <a:buSzPct val="100000"/>
              <a:buChar char="•"/>
            </a:pPr>
            <a:r>
              <a:rPr lang="en-US" sz="1500" dirty="0">
                <a:solidFill>
                  <a:srgbClr val="F5F2E9"/>
                </a:solidFill>
                <a:latin typeface="Arial" pitchFamily="34" charset="0"/>
                <a:ea typeface="Arial" pitchFamily="34" charset="-122"/>
                <a:cs typeface="Arial" pitchFamily="34" charset="-120"/>
              </a:rPr>
              <a:t>Purchase or monthly lease per tree</a:t>
            </a:r>
            <a:endParaRPr lang="en-US" sz="1500" dirty="0"/>
          </a:p>
          <a:p>
            <a:pPr algn="l" marL="170180" indent="-170180">
              <a:lnSpc>
                <a:spcPts val="2175"/>
              </a:lnSpc>
              <a:buSzPct val="100000"/>
              <a:buChar char="•"/>
            </a:pPr>
            <a:r>
              <a:rPr lang="en-US" sz="1500" dirty="0">
                <a:solidFill>
                  <a:srgbClr val="F5F2E9"/>
                </a:solidFill>
                <a:latin typeface="Arial" pitchFamily="34" charset="0"/>
                <a:ea typeface="Arial" pitchFamily="34" charset="-122"/>
                <a:cs typeface="Arial" pitchFamily="34" charset="-120"/>
              </a:rPr>
              <a:t>Sponsorship and branding</a:t>
            </a:r>
            <a:endParaRPr lang="en-US" sz="1500" dirty="0"/>
          </a:p>
          <a:p>
            <a:pPr algn="l" marL="170180" indent="-170180">
              <a:lnSpc>
                <a:spcPts val="2175"/>
              </a:lnSpc>
              <a:buSzPct val="100000"/>
              <a:buChar char="•"/>
            </a:pPr>
            <a:r>
              <a:rPr lang="en-US" sz="1500" dirty="0">
                <a:solidFill>
                  <a:srgbClr val="F5F2E9"/>
                </a:solidFill>
                <a:latin typeface="Arial" pitchFamily="34" charset="0"/>
                <a:ea typeface="Arial" pitchFamily="34" charset="-122"/>
                <a:cs typeface="Arial" pitchFamily="34" charset="-120"/>
              </a:rPr>
              <a:t>Air-data access for cities and researchers</a:t>
            </a:r>
            <a:endParaRPr lang="en-US" sz="1500" dirty="0"/>
          </a:p>
          <a:p>
            <a:pPr algn="l" marL="170180" indent="-170180">
              <a:lnSpc>
                <a:spcPts val="2175"/>
              </a:lnSpc>
              <a:buSzPct val="100000"/>
              <a:buChar char="•"/>
            </a:pPr>
            <a:r>
              <a:rPr lang="en-US" sz="1500" dirty="0">
                <a:solidFill>
                  <a:srgbClr val="F5F2E9"/>
                </a:solidFill>
                <a:latin typeface="Arial" pitchFamily="34" charset="0"/>
                <a:ea typeface="Arial" pitchFamily="34" charset="-122"/>
                <a:cs typeface="Arial" pitchFamily="34" charset="-120"/>
              </a:rPr>
              <a:t>CO₂ credits later, if stored carbon is verified</a:t>
            </a:r>
            <a:endParaRPr lang="en-US" sz="1500" dirty="0"/>
          </a:p>
        </p:txBody>
      </p:sp>
      <p:sp>
        <p:nvSpPr>
          <p:cNvPr id="10" name="Text 8"/>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BB"/>
                </a:solidFill>
                <a:latin typeface="Arial" pitchFamily="34" charset="0"/>
                <a:ea typeface="Arial" pitchFamily="34" charset="-122"/>
                <a:cs typeface="Arial" pitchFamily="34" charset="-120"/>
              </a:rPr>
              <a:t>Arbora · Smart solar tree</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BB"/>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E5D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E7A6B"/>
                </a:solidFill>
                <a:latin typeface="Arial" pitchFamily="34" charset="0"/>
                <a:ea typeface="Arial" pitchFamily="34" charset="-122"/>
                <a:cs typeface="Arial" pitchFamily="34" charset="-120"/>
              </a:rPr>
              <a:t>ROADMAP</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302B"/>
                </a:solidFill>
                <a:latin typeface="Arial" pitchFamily="34" charset="0"/>
                <a:ea typeface="Arial" pitchFamily="34" charset="-122"/>
                <a:cs typeface="Arial" pitchFamily="34" charset="-120"/>
              </a:rPr>
              <a:t>From MVP to full Arbora</a:t>
            </a:r>
            <a:endParaRPr lang="en-US" sz="3200" dirty="0"/>
          </a:p>
        </p:txBody>
      </p:sp>
      <p:sp>
        <p:nvSpPr>
          <p:cNvPr id="4" name="Shape 2"/>
          <p:cNvSpPr/>
          <p:nvPr/>
        </p:nvSpPr>
        <p:spPr>
          <a:xfrm>
            <a:off x="812800" y="1981150"/>
            <a:ext cx="3412034" cy="2029271"/>
          </a:xfrm>
          <a:prstGeom prst="roundRect">
            <a:avLst>
              <a:gd name="adj" fmla="val 5007"/>
            </a:avLst>
          </a:prstGeom>
          <a:solidFill>
            <a:srgbClr val="16302B"/>
          </a:solidFill>
          <a:ln/>
        </p:spPr>
      </p:sp>
      <p:sp>
        <p:nvSpPr>
          <p:cNvPr id="5" name="Text 3"/>
          <p:cNvSpPr/>
          <p:nvPr/>
        </p:nvSpPr>
        <p:spPr>
          <a:xfrm>
            <a:off x="1041400" y="2209750"/>
            <a:ext cx="30434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Arial" pitchFamily="34" charset="0"/>
                <a:ea typeface="Arial" pitchFamily="34" charset="-122"/>
                <a:cs typeface="Arial" pitchFamily="34" charset="-120"/>
              </a:rPr>
              <a:t>Version 1 · MVP</a:t>
            </a:r>
            <a:endParaRPr lang="en-US" sz="1200" dirty="0"/>
          </a:p>
        </p:txBody>
      </p:sp>
      <p:sp>
        <p:nvSpPr>
          <p:cNvPr id="6" name="Text 4"/>
          <p:cNvSpPr/>
          <p:nvPr/>
        </p:nvSpPr>
        <p:spPr>
          <a:xfrm>
            <a:off x="1138682" y="2524671"/>
            <a:ext cx="2938577" cy="1020961"/>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F5F2E9"/>
                </a:solidFill>
                <a:latin typeface="Arial" pitchFamily="34" charset="0"/>
                <a:ea typeface="Arial" pitchFamily="34" charset="-122"/>
                <a:cs typeface="Arial" pitchFamily="34" charset="-120"/>
              </a:rPr>
              <a:t>Custom canopy design</a:t>
            </a:r>
            <a:endParaRPr lang="en-US" sz="1400" dirty="0"/>
          </a:p>
          <a:p>
            <a:pPr algn="l" marL="156718" indent="-156718">
              <a:lnSpc>
                <a:spcPts val="1960"/>
              </a:lnSpc>
              <a:buSzPct val="100000"/>
              <a:buChar char="•"/>
            </a:pPr>
            <a:r>
              <a:rPr lang="en-US" sz="1400" dirty="0">
                <a:solidFill>
                  <a:srgbClr val="F5F2E9"/>
                </a:solidFill>
                <a:latin typeface="Arial" pitchFamily="34" charset="0"/>
                <a:ea typeface="Arial" pitchFamily="34" charset="-122"/>
                <a:cs typeface="Arial" pitchFamily="34" charset="-120"/>
              </a:rPr>
              <a:t>Sensors and website</a:t>
            </a:r>
            <a:endParaRPr lang="en-US" sz="1400" dirty="0"/>
          </a:p>
          <a:p>
            <a:pPr algn="l" marL="156718" indent="-156718">
              <a:lnSpc>
                <a:spcPts val="1960"/>
              </a:lnSpc>
              <a:buSzPct val="100000"/>
              <a:buChar char="•"/>
            </a:pPr>
            <a:r>
              <a:rPr lang="en-US" sz="1400" dirty="0">
                <a:solidFill>
                  <a:srgbClr val="F5F2E9"/>
                </a:solidFill>
                <a:latin typeface="Arial" pitchFamily="34" charset="0"/>
                <a:ea typeface="Arial" pitchFamily="34" charset="-122"/>
                <a:cs typeface="Arial" pitchFamily="34" charset="-120"/>
              </a:rPr>
              <a:t>Solar power and benches</a:t>
            </a:r>
            <a:endParaRPr lang="en-US" sz="1400" dirty="0"/>
          </a:p>
          <a:p>
            <a:pPr algn="l" marL="156718" indent="-156718">
              <a:lnSpc>
                <a:spcPts val="1960"/>
              </a:lnSpc>
              <a:buSzPct val="100000"/>
              <a:buChar char="•"/>
            </a:pPr>
            <a:r>
              <a:rPr lang="en-US" sz="1400" dirty="0">
                <a:solidFill>
                  <a:srgbClr val="F5F2E9"/>
                </a:solidFill>
                <a:latin typeface="Arial" pitchFamily="34" charset="0"/>
                <a:ea typeface="Arial" pitchFamily="34" charset="-122"/>
                <a:cs typeface="Arial" pitchFamily="34" charset="-120"/>
              </a:rPr>
              <a:t>Algae and plants</a:t>
            </a:r>
            <a:endParaRPr lang="en-US" sz="1400" dirty="0"/>
          </a:p>
        </p:txBody>
      </p:sp>
      <p:sp>
        <p:nvSpPr>
          <p:cNvPr id="7" name="Shape 5"/>
          <p:cNvSpPr/>
          <p:nvPr/>
        </p:nvSpPr>
        <p:spPr>
          <a:xfrm>
            <a:off x="4380409" y="1984325"/>
            <a:ext cx="3418433" cy="2022921"/>
          </a:xfrm>
          <a:prstGeom prst="roundRect">
            <a:avLst>
              <a:gd name="adj" fmla="val 4865"/>
            </a:avLst>
          </a:prstGeom>
          <a:solidFill>
            <a:srgbClr val="FBFAF5"/>
          </a:solidFill>
          <a:ln w="6350">
            <a:solidFill>
              <a:srgbClr val="D3CCB8"/>
            </a:solidFill>
            <a:prstDash val="solid"/>
          </a:ln>
        </p:spPr>
      </p:sp>
      <p:sp>
        <p:nvSpPr>
          <p:cNvPr id="8" name="Text 6"/>
          <p:cNvSpPr/>
          <p:nvPr/>
        </p:nvSpPr>
        <p:spPr>
          <a:xfrm>
            <a:off x="4612184" y="2216100"/>
            <a:ext cx="30435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7A6B"/>
                </a:solidFill>
                <a:latin typeface="Arial" pitchFamily="34" charset="0"/>
                <a:ea typeface="Arial" pitchFamily="34" charset="-122"/>
                <a:cs typeface="Arial" pitchFamily="34" charset="-120"/>
              </a:rPr>
              <a:t>Version 2</a:t>
            </a:r>
            <a:endParaRPr lang="en-US" sz="1200" dirty="0"/>
          </a:p>
        </p:txBody>
      </p:sp>
      <p:sp>
        <p:nvSpPr>
          <p:cNvPr id="9" name="Text 7"/>
          <p:cNvSpPr/>
          <p:nvPr/>
        </p:nvSpPr>
        <p:spPr>
          <a:xfrm>
            <a:off x="4709466" y="2531021"/>
            <a:ext cx="2938628" cy="1020961"/>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Sorbent CO₂ capture feeding the algae</a:t>
            </a:r>
            <a:endParaRPr lang="en-US" sz="1400" dirty="0"/>
          </a:p>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Cooling zone with misting</a:t>
            </a:r>
            <a:endParaRPr lang="en-US" sz="1400" dirty="0"/>
          </a:p>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Mobile app and alerts</a:t>
            </a:r>
            <a:endParaRPr lang="en-US" sz="1400" dirty="0"/>
          </a:p>
        </p:txBody>
      </p:sp>
      <p:sp>
        <p:nvSpPr>
          <p:cNvPr id="10" name="Shape 8"/>
          <p:cNvSpPr/>
          <p:nvPr/>
        </p:nvSpPr>
        <p:spPr>
          <a:xfrm>
            <a:off x="7957592" y="1984325"/>
            <a:ext cx="3418433" cy="2022921"/>
          </a:xfrm>
          <a:prstGeom prst="roundRect">
            <a:avLst>
              <a:gd name="adj" fmla="val 4865"/>
            </a:avLst>
          </a:prstGeom>
          <a:solidFill>
            <a:srgbClr val="FBFAF5"/>
          </a:solidFill>
          <a:ln w="6350">
            <a:solidFill>
              <a:srgbClr val="D3CCB8"/>
            </a:solidFill>
            <a:prstDash val="solid"/>
          </a:ln>
        </p:spPr>
      </p:sp>
      <p:sp>
        <p:nvSpPr>
          <p:cNvPr id="11" name="Text 9"/>
          <p:cNvSpPr/>
          <p:nvPr/>
        </p:nvSpPr>
        <p:spPr>
          <a:xfrm>
            <a:off x="8189367" y="2216100"/>
            <a:ext cx="30435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7A6B"/>
                </a:solidFill>
                <a:latin typeface="Arial" pitchFamily="34" charset="0"/>
                <a:ea typeface="Arial" pitchFamily="34" charset="-122"/>
                <a:cs typeface="Arial" pitchFamily="34" charset="-120"/>
              </a:rPr>
              <a:t>Version 3 · Research</a:t>
            </a:r>
            <a:endParaRPr lang="en-US" sz="1200" dirty="0"/>
          </a:p>
        </p:txBody>
      </p:sp>
      <p:sp>
        <p:nvSpPr>
          <p:cNvPr id="12" name="Text 10"/>
          <p:cNvSpPr/>
          <p:nvPr/>
        </p:nvSpPr>
        <p:spPr>
          <a:xfrm>
            <a:off x="8286649" y="2531021"/>
            <a:ext cx="2938628" cy="1269851"/>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Artificial photosynthesis: gallium-indium (ground)</a:t>
            </a:r>
            <a:endParaRPr lang="en-US" sz="1400" dirty="0"/>
          </a:p>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Cobalt oxide and nickel-iron phosphate (sea)</a:t>
            </a:r>
            <a:endParaRPr lang="en-US" sz="1400" dirty="0"/>
          </a:p>
          <a:p>
            <a:pPr algn="l" marL="156718" indent="-156718">
              <a:lnSpc>
                <a:spcPts val="1960"/>
              </a:lnSpc>
              <a:buSzPct val="100000"/>
              <a:buChar char="•"/>
            </a:pPr>
            <a:r>
              <a:rPr lang="en-US" sz="1400" dirty="0">
                <a:solidFill>
                  <a:srgbClr val="4F605B"/>
                </a:solidFill>
                <a:latin typeface="Arial" pitchFamily="34" charset="0"/>
                <a:ea typeface="Arial" pitchFamily="34" charset="-122"/>
                <a:cs typeface="Arial" pitchFamily="34" charset="-120"/>
              </a:rPr>
              <a:t>Day and night origami forms</a:t>
            </a:r>
            <a:endParaRPr lang="en-US" sz="1400" dirty="0"/>
          </a:p>
        </p:txBody>
      </p:sp>
      <p:sp>
        <p:nvSpPr>
          <p:cNvPr id="13" name="Text 11"/>
          <p:cNvSpPr/>
          <p:nvPr/>
        </p:nvSpPr>
        <p:spPr>
          <a:xfrm>
            <a:off x="812800" y="4264422"/>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302B"/>
                </a:solidFill>
                <a:latin typeface="Arial" pitchFamily="34" charset="0"/>
                <a:ea typeface="Arial" pitchFamily="34" charset="-122"/>
                <a:cs typeface="Arial" pitchFamily="34" charset="-120"/>
              </a:rPr>
              <a:t>Next step: pilot one tree, measure real data, then scale.</a:t>
            </a:r>
            <a:endParaRPr lang="en-US" sz="1600" dirty="0"/>
          </a:p>
        </p:txBody>
      </p:sp>
      <p:sp>
        <p:nvSpPr>
          <p:cNvPr id="14" name="Text 12"/>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6"/>
                </a:solidFill>
                <a:latin typeface="Arial" pitchFamily="34" charset="0"/>
                <a:ea typeface="Arial" pitchFamily="34" charset="-122"/>
                <a:cs typeface="Arial" pitchFamily="34" charset="-120"/>
              </a:rPr>
              <a:t>Arbora · Smart solar tree</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66"/>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D2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636000" y="952500"/>
            <a:ext cx="2286000" cy="2286000"/>
          </a:xfrm>
          <a:prstGeom prst="rect">
            <a:avLst/>
          </a:prstGeom>
        </p:spPr>
      </p:pic>
      <p:sp>
        <p:nvSpPr>
          <p:cNvPr id="3"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9A23B"/>
                </a:solidFill>
                <a:latin typeface="Arial" pitchFamily="34" charset="0"/>
                <a:ea typeface="Arial" pitchFamily="34" charset="-122"/>
                <a:cs typeface="Arial" pitchFamily="34" charset="-120"/>
              </a:rPr>
              <a:t>ARBORA</a:t>
            </a:r>
            <a:endParaRPr lang="en-US" sz="1400" dirty="0"/>
          </a:p>
        </p:txBody>
      </p:sp>
      <p:sp>
        <p:nvSpPr>
          <p:cNvPr id="4" name="Text 1"/>
          <p:cNvSpPr/>
          <p:nvPr>
            <p:ph type="title"/>
          </p:nvPr>
        </p:nvSpPr>
        <p:spPr>
          <a:xfrm>
            <a:off x="812800" y="2496889"/>
            <a:ext cx="7848600"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2E9"/>
                </a:solidFill>
                <a:latin typeface="Arial" pitchFamily="34" charset="0"/>
                <a:ea typeface="Arial" pitchFamily="34" charset="-122"/>
                <a:cs typeface="Arial" pitchFamily="34" charset="-120"/>
              </a:rPr>
              <a:t>Clean power, clean data, cooler streets</a:t>
            </a:r>
            <a:endParaRPr lang="en-US" sz="4800" dirty="0"/>
          </a:p>
        </p:txBody>
      </p:sp>
      <p:sp>
        <p:nvSpPr>
          <p:cNvPr id="5" name="Text 2"/>
          <p:cNvSpPr/>
          <p:nvPr/>
        </p:nvSpPr>
        <p:spPr>
          <a:xfrm>
            <a:off x="812800" y="4041130"/>
            <a:ext cx="78486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FE0DA"/>
                </a:solidFill>
                <a:latin typeface="Arial" pitchFamily="34" charset="0"/>
                <a:ea typeface="Arial" pitchFamily="34" charset="-122"/>
                <a:cs typeface="Arial" pitchFamily="34" charset="-120"/>
              </a:rPr>
              <a:t>What we ask from this competition: [funding, a pilot site, mentors; fill in]</a:t>
            </a:r>
            <a:endParaRPr lang="en-US" sz="1800" dirty="0"/>
          </a:p>
        </p:txBody>
      </p:sp>
      <p:sp>
        <p:nvSpPr>
          <p:cNvPr id="6"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2BB"/>
                </a:solidFill>
                <a:latin typeface="Arial" pitchFamily="34" charset="0"/>
                <a:ea typeface="Arial" pitchFamily="34" charset="-122"/>
                <a:cs typeface="Arial" pitchFamily="34" charset="-120"/>
              </a:rPr>
              <a:t>[Name] · [Email] · [Website]</a:t>
            </a:r>
            <a:endParaRPr lang="en-US" sz="1400" dirty="0"/>
          </a:p>
        </p:txBody>
      </p:sp>
    </p:spTree>
  </p:cSld>
  <p:clrMapOvr>
    <a:masterClrMapping/>
  </p:clrMapOvr>
</p:sld>
</file>

<file path=ppt/theme/theme1.xml><?xml version="1.0" encoding="utf-8"?>
<a:theme xmlns:a="http://schemas.openxmlformats.org/drawingml/2006/main" name="Arbora Smart Solar Tree">
  <a:themeElements>
    <a:clrScheme name="Arbora Smart Solar Tree">
      <a:dk1>
        <a:srgbClr val="0F2D28"/>
      </a:dk1>
      <a:lt1>
        <a:srgbClr val="F5F2E9"/>
      </a:lt1>
      <a:dk2>
        <a:srgbClr val="26413B"/>
      </a:dk2>
      <a:lt2>
        <a:srgbClr val="BCC1B9"/>
      </a:lt2>
      <a:accent1>
        <a:srgbClr val="E9A23B"/>
      </a:accent1>
      <a:accent2>
        <a:srgbClr val="1E7A6B"/>
      </a:accent2>
      <a:accent3>
        <a:srgbClr val="2A9D8A"/>
      </a:accent3>
      <a:accent4>
        <a:srgbClr val="4F605B"/>
      </a:accent4>
      <a:accent5>
        <a:srgbClr val="5B6B66"/>
      </a:accent5>
      <a:accent6>
        <a:srgbClr val="A9C2BB"/>
      </a:accent6>
      <a:hlink>
        <a:srgbClr val="0563C1"/>
      </a:hlink>
      <a:folHlink>
        <a:srgbClr val="954F72"/>
      </a:folHlink>
    </a:clrScheme>
    <a:fontScheme name="Arbora Smart Solar Tre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Arbora Smart Solar Tree</dc:title>
  <dc:subject/>
  <dc:creator/>
  <cp:lastModifiedBy/>
  <cp:revision>1</cp:revision>
  <dcterms:created xsi:type="dcterms:W3CDTF">2026-10-17T10:28:04Z</dcterms:created>
  <dcterms:modified xsi:type="dcterms:W3CDTF">2026-10-17T10:28:04Z</dcterms:modified>
</cp:coreProperties>
</file>